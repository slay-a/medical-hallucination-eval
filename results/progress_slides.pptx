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0693400" cy="7562850"/>
  <p:notesSz cx="106934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572B82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Hallucination Evaluation in LLM-Based Medical Summarization</a:t>
            </a:r>
            <a:r>
              <a:rPr dirty="0" spc="204"/>
              <a:t> </a:t>
            </a:r>
            <a:r>
              <a:rPr dirty="0"/>
              <a:t>·</a:t>
            </a:r>
            <a:r>
              <a:rPr dirty="0" spc="200"/>
              <a:t> </a:t>
            </a:r>
            <a:r>
              <a:rPr dirty="0"/>
              <a:t>CSUN Comp</a:t>
            </a:r>
            <a:r>
              <a:rPr dirty="0" spc="5"/>
              <a:t> </a:t>
            </a:r>
            <a:r>
              <a:rPr dirty="0"/>
              <a:t>696C</a:t>
            </a:r>
            <a:r>
              <a:rPr dirty="0" spc="200"/>
              <a:t> </a:t>
            </a:r>
            <a:r>
              <a:rPr dirty="0"/>
              <a:t>·</a:t>
            </a:r>
            <a:r>
              <a:rPr dirty="0" spc="200"/>
              <a:t> </a:t>
            </a:r>
            <a:r>
              <a:rPr dirty="0"/>
              <a:t>April</a:t>
            </a:r>
            <a:r>
              <a:rPr dirty="0" spc="5"/>
              <a:t> </a:t>
            </a:r>
            <a:r>
              <a:rPr dirty="0" spc="-2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/>
              <a:t>#</a:t>
            </a:fld>
            <a:r>
              <a:rPr dirty="0" spc="-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572B82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Hallucination Evaluation in LLM-Based Medical Summarization</a:t>
            </a:r>
            <a:r>
              <a:rPr dirty="0" spc="204"/>
              <a:t> </a:t>
            </a:r>
            <a:r>
              <a:rPr dirty="0"/>
              <a:t>·</a:t>
            </a:r>
            <a:r>
              <a:rPr dirty="0" spc="200"/>
              <a:t> </a:t>
            </a:r>
            <a:r>
              <a:rPr dirty="0"/>
              <a:t>CSUN Comp</a:t>
            </a:r>
            <a:r>
              <a:rPr dirty="0" spc="5"/>
              <a:t> </a:t>
            </a:r>
            <a:r>
              <a:rPr dirty="0"/>
              <a:t>696C</a:t>
            </a:r>
            <a:r>
              <a:rPr dirty="0" spc="200"/>
              <a:t> </a:t>
            </a:r>
            <a:r>
              <a:rPr dirty="0"/>
              <a:t>·</a:t>
            </a:r>
            <a:r>
              <a:rPr dirty="0" spc="200"/>
              <a:t> </a:t>
            </a:r>
            <a:r>
              <a:rPr dirty="0"/>
              <a:t>April</a:t>
            </a:r>
            <a:r>
              <a:rPr dirty="0" spc="5"/>
              <a:t> </a:t>
            </a:r>
            <a:r>
              <a:rPr dirty="0" spc="-2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/>
              <a:t>#</a:t>
            </a:fld>
            <a:r>
              <a:rPr dirty="0" spc="-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572B82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Hallucination Evaluation in LLM-Based Medical Summarization</a:t>
            </a:r>
            <a:r>
              <a:rPr dirty="0" spc="204"/>
              <a:t> </a:t>
            </a:r>
            <a:r>
              <a:rPr dirty="0"/>
              <a:t>·</a:t>
            </a:r>
            <a:r>
              <a:rPr dirty="0" spc="200"/>
              <a:t> </a:t>
            </a:r>
            <a:r>
              <a:rPr dirty="0"/>
              <a:t>CSUN Comp</a:t>
            </a:r>
            <a:r>
              <a:rPr dirty="0" spc="5"/>
              <a:t> </a:t>
            </a:r>
            <a:r>
              <a:rPr dirty="0"/>
              <a:t>696C</a:t>
            </a:r>
            <a:r>
              <a:rPr dirty="0" spc="200"/>
              <a:t> </a:t>
            </a:r>
            <a:r>
              <a:rPr dirty="0"/>
              <a:t>·</a:t>
            </a:r>
            <a:r>
              <a:rPr dirty="0" spc="200"/>
              <a:t> </a:t>
            </a:r>
            <a:r>
              <a:rPr dirty="0"/>
              <a:t>April</a:t>
            </a:r>
            <a:r>
              <a:rPr dirty="0" spc="5"/>
              <a:t> </a:t>
            </a:r>
            <a:r>
              <a:rPr dirty="0"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/>
              <a:t>#</a:t>
            </a:fld>
            <a:r>
              <a:rPr dirty="0" spc="-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572B82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Hallucination Evaluation in LLM-Based Medical Summarization</a:t>
            </a:r>
            <a:r>
              <a:rPr dirty="0" spc="204"/>
              <a:t> </a:t>
            </a:r>
            <a:r>
              <a:rPr dirty="0"/>
              <a:t>·</a:t>
            </a:r>
            <a:r>
              <a:rPr dirty="0" spc="200"/>
              <a:t> </a:t>
            </a:r>
            <a:r>
              <a:rPr dirty="0"/>
              <a:t>CSUN Comp</a:t>
            </a:r>
            <a:r>
              <a:rPr dirty="0" spc="5"/>
              <a:t> </a:t>
            </a:r>
            <a:r>
              <a:rPr dirty="0"/>
              <a:t>696C</a:t>
            </a:r>
            <a:r>
              <a:rPr dirty="0" spc="200"/>
              <a:t> </a:t>
            </a:r>
            <a:r>
              <a:rPr dirty="0"/>
              <a:t>·</a:t>
            </a:r>
            <a:r>
              <a:rPr dirty="0" spc="200"/>
              <a:t> </a:t>
            </a:r>
            <a:r>
              <a:rPr dirty="0"/>
              <a:t>April</a:t>
            </a:r>
            <a:r>
              <a:rPr dirty="0" spc="5"/>
              <a:t> </a:t>
            </a:r>
            <a:r>
              <a:rPr dirty="0" spc="-2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/>
              <a:t>#</a:t>
            </a:fld>
            <a:r>
              <a:rPr dirty="0" spc="-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Hallucination Evaluation in LLM-Based Medical Summarization</a:t>
            </a:r>
            <a:r>
              <a:rPr dirty="0" spc="204"/>
              <a:t> </a:t>
            </a:r>
            <a:r>
              <a:rPr dirty="0"/>
              <a:t>·</a:t>
            </a:r>
            <a:r>
              <a:rPr dirty="0" spc="200"/>
              <a:t> </a:t>
            </a:r>
            <a:r>
              <a:rPr dirty="0"/>
              <a:t>CSUN Comp</a:t>
            </a:r>
            <a:r>
              <a:rPr dirty="0" spc="5"/>
              <a:t> </a:t>
            </a:r>
            <a:r>
              <a:rPr dirty="0"/>
              <a:t>696C</a:t>
            </a:r>
            <a:r>
              <a:rPr dirty="0" spc="200"/>
              <a:t> </a:t>
            </a:r>
            <a:r>
              <a:rPr dirty="0"/>
              <a:t>·</a:t>
            </a:r>
            <a:r>
              <a:rPr dirty="0" spc="200"/>
              <a:t> </a:t>
            </a:r>
            <a:r>
              <a:rPr dirty="0"/>
              <a:t>April</a:t>
            </a:r>
            <a:r>
              <a:rPr dirty="0" spc="5"/>
              <a:t> </a:t>
            </a:r>
            <a:r>
              <a:rPr dirty="0" spc="-20"/>
              <a:t>2026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/>
              <a:t>#</a:t>
            </a:fld>
            <a:r>
              <a:rPr dirty="0" spc="-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0692130" cy="558165"/>
          </a:xfrm>
          <a:custGeom>
            <a:avLst/>
            <a:gdLst/>
            <a:ahLst/>
            <a:cxnLst/>
            <a:rect l="l" t="t" r="r" b="b"/>
            <a:pathLst>
              <a:path w="10692130" h="558165">
                <a:moveTo>
                  <a:pt x="10692000" y="0"/>
                </a:moveTo>
                <a:lnTo>
                  <a:pt x="0" y="0"/>
                </a:lnTo>
                <a:lnTo>
                  <a:pt x="0" y="558000"/>
                </a:lnTo>
                <a:lnTo>
                  <a:pt x="10692000" y="558000"/>
                </a:lnTo>
                <a:lnTo>
                  <a:pt x="10692000" y="0"/>
                </a:lnTo>
                <a:close/>
              </a:path>
            </a:pathLst>
          </a:custGeom>
          <a:solidFill>
            <a:srgbClr val="572B8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557999"/>
            <a:ext cx="10692130" cy="50800"/>
          </a:xfrm>
          <a:custGeom>
            <a:avLst/>
            <a:gdLst/>
            <a:ahLst/>
            <a:cxnLst/>
            <a:rect l="l" t="t" r="r" b="b"/>
            <a:pathLst>
              <a:path w="10692130" h="50800">
                <a:moveTo>
                  <a:pt x="10692000" y="0"/>
                </a:moveTo>
                <a:lnTo>
                  <a:pt x="0" y="0"/>
                </a:lnTo>
                <a:lnTo>
                  <a:pt x="0" y="50800"/>
                </a:lnTo>
                <a:lnTo>
                  <a:pt x="10692000" y="50800"/>
                </a:lnTo>
                <a:lnTo>
                  <a:pt x="10692000" y="0"/>
                </a:lnTo>
                <a:close/>
              </a:path>
            </a:pathLst>
          </a:custGeom>
          <a:solidFill>
            <a:srgbClr val="F2A8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7303800"/>
            <a:ext cx="10692130" cy="256540"/>
          </a:xfrm>
          <a:custGeom>
            <a:avLst/>
            <a:gdLst/>
            <a:ahLst/>
            <a:cxnLst/>
            <a:rect l="l" t="t" r="r" b="b"/>
            <a:pathLst>
              <a:path w="10692130" h="256540">
                <a:moveTo>
                  <a:pt x="10692000" y="0"/>
                </a:moveTo>
                <a:lnTo>
                  <a:pt x="0" y="0"/>
                </a:lnTo>
                <a:lnTo>
                  <a:pt x="0" y="256200"/>
                </a:lnTo>
                <a:lnTo>
                  <a:pt x="10692000" y="256200"/>
                </a:lnTo>
                <a:lnTo>
                  <a:pt x="10692000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0" y="7293640"/>
            <a:ext cx="10692130" cy="10160"/>
          </a:xfrm>
          <a:custGeom>
            <a:avLst/>
            <a:gdLst/>
            <a:ahLst/>
            <a:cxnLst/>
            <a:rect l="l" t="t" r="r" b="b"/>
            <a:pathLst>
              <a:path w="10692130" h="10159">
                <a:moveTo>
                  <a:pt x="10692000" y="0"/>
                </a:moveTo>
                <a:lnTo>
                  <a:pt x="0" y="0"/>
                </a:lnTo>
                <a:lnTo>
                  <a:pt x="0" y="10160"/>
                </a:lnTo>
                <a:lnTo>
                  <a:pt x="10692000" y="10160"/>
                </a:lnTo>
                <a:lnTo>
                  <a:pt x="106920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15231" y="768818"/>
            <a:ext cx="386207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572B82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3299" y="7312221"/>
            <a:ext cx="3904615" cy="125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Hallucination Evaluation in LLM-Based Medical Summarization</a:t>
            </a:r>
            <a:r>
              <a:rPr dirty="0" spc="204"/>
              <a:t> </a:t>
            </a:r>
            <a:r>
              <a:rPr dirty="0"/>
              <a:t>·</a:t>
            </a:r>
            <a:r>
              <a:rPr dirty="0" spc="200"/>
              <a:t> </a:t>
            </a:r>
            <a:r>
              <a:rPr dirty="0"/>
              <a:t>CSUN Comp</a:t>
            </a:r>
            <a:r>
              <a:rPr dirty="0" spc="5"/>
              <a:t> </a:t>
            </a:r>
            <a:r>
              <a:rPr dirty="0"/>
              <a:t>696C</a:t>
            </a:r>
            <a:r>
              <a:rPr dirty="0" spc="200"/>
              <a:t> </a:t>
            </a:r>
            <a:r>
              <a:rPr dirty="0"/>
              <a:t>·</a:t>
            </a:r>
            <a:r>
              <a:rPr dirty="0" spc="200"/>
              <a:t> </a:t>
            </a:r>
            <a:r>
              <a:rPr dirty="0"/>
              <a:t>April</a:t>
            </a:r>
            <a:r>
              <a:rPr dirty="0" spc="5"/>
              <a:t> </a:t>
            </a:r>
            <a:r>
              <a:rPr dirty="0" spc="-2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011443" y="7312221"/>
            <a:ext cx="297815" cy="125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/>
              <a:t>#</a:t>
            </a:fld>
            <a:r>
              <a:rPr dirty="0" spc="-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 spc="-25"/>
              <a:t>10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491040" y="126599"/>
            <a:ext cx="570992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Hallucination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Evaluation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5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LLM-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Based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 Summarization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457200">
              <a:lnSpc>
                <a:spcPct val="111100"/>
              </a:lnSpc>
              <a:spcBef>
                <a:spcPts val="100"/>
              </a:spcBef>
            </a:pPr>
            <a:r>
              <a:rPr dirty="0"/>
              <a:t>Hallucination Evaluation </a:t>
            </a:r>
            <a:r>
              <a:rPr dirty="0" spc="-25"/>
              <a:t>in </a:t>
            </a:r>
            <a:r>
              <a:rPr dirty="0"/>
              <a:t>LLM-Based Medical </a:t>
            </a:r>
            <a:r>
              <a:rPr dirty="0" spc="-10"/>
              <a:t>Summarization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3821415" y="1540979"/>
            <a:ext cx="3058160" cy="1013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1200">
                <a:solidFill>
                  <a:srgbClr val="444444"/>
                </a:solidFill>
                <a:latin typeface="Arial MT"/>
                <a:cs typeface="Arial MT"/>
              </a:rPr>
              <a:t>Thesis</a:t>
            </a:r>
            <a:r>
              <a:rPr dirty="0" sz="12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44444"/>
                </a:solidFill>
                <a:latin typeface="Arial MT"/>
                <a:cs typeface="Arial MT"/>
              </a:rPr>
              <a:t>Progress Presentation</a:t>
            </a:r>
            <a:r>
              <a:rPr dirty="0" sz="1200" spc="34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44444"/>
                </a:solidFill>
                <a:latin typeface="Arial MT"/>
                <a:cs typeface="Arial MT"/>
              </a:rPr>
              <a:t>·</a:t>
            </a:r>
            <a:r>
              <a:rPr dirty="0" sz="1200" spc="33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44444"/>
                </a:solidFill>
                <a:latin typeface="Arial MT"/>
                <a:cs typeface="Arial MT"/>
              </a:rPr>
              <a:t>Comp </a:t>
            </a:r>
            <a:r>
              <a:rPr dirty="0" sz="1200" spc="-20">
                <a:solidFill>
                  <a:srgbClr val="444444"/>
                </a:solidFill>
                <a:latin typeface="Arial MT"/>
                <a:cs typeface="Arial MT"/>
              </a:rPr>
              <a:t>696C </a:t>
            </a:r>
            <a:r>
              <a:rPr dirty="0" sz="1200">
                <a:solidFill>
                  <a:srgbClr val="444444"/>
                </a:solidFill>
                <a:latin typeface="Arial MT"/>
                <a:cs typeface="Arial MT"/>
              </a:rPr>
              <a:t>California State University, </a:t>
            </a:r>
            <a:r>
              <a:rPr dirty="0" sz="1200" spc="-10">
                <a:solidFill>
                  <a:srgbClr val="444444"/>
                </a:solidFill>
                <a:latin typeface="Arial MT"/>
                <a:cs typeface="Arial MT"/>
              </a:rPr>
              <a:t>Northridge</a:t>
            </a:r>
            <a:endParaRPr sz="1200">
              <a:latin typeface="Arial MT"/>
              <a:cs typeface="Arial MT"/>
            </a:endParaRPr>
          </a:p>
          <a:p>
            <a:pPr algn="ctr" marL="1062355" marR="1063625">
              <a:lnSpc>
                <a:spcPct val="121200"/>
              </a:lnSpc>
              <a:spcBef>
                <a:spcPts val="980"/>
              </a:spcBef>
            </a:pPr>
            <a:r>
              <a:rPr dirty="0" sz="1100" b="1">
                <a:solidFill>
                  <a:srgbClr val="572B82"/>
                </a:solidFill>
                <a:latin typeface="Arial"/>
                <a:cs typeface="Arial"/>
              </a:rPr>
              <a:t>Student:</a:t>
            </a:r>
            <a:r>
              <a:rPr dirty="0" sz="1100" spc="-45" b="1">
                <a:solidFill>
                  <a:srgbClr val="572B82"/>
                </a:solidFill>
                <a:latin typeface="Arial"/>
                <a:cs typeface="Arial"/>
              </a:rPr>
              <a:t> </a:t>
            </a:r>
            <a:r>
              <a:rPr dirty="0" sz="1100" spc="-20" b="1">
                <a:solidFill>
                  <a:srgbClr val="572B82"/>
                </a:solidFill>
                <a:latin typeface="Arial"/>
                <a:cs typeface="Arial"/>
              </a:rPr>
              <a:t>Laya </a:t>
            </a:r>
            <a:r>
              <a:rPr dirty="0" sz="1100" b="1">
                <a:solidFill>
                  <a:srgbClr val="572B82"/>
                </a:solidFill>
                <a:latin typeface="Arial"/>
                <a:cs typeface="Arial"/>
              </a:rPr>
              <a:t>April </a:t>
            </a:r>
            <a:r>
              <a:rPr dirty="0" sz="1100" spc="-20" b="1">
                <a:solidFill>
                  <a:srgbClr val="572B82"/>
                </a:solidFill>
                <a:latin typeface="Arial"/>
                <a:cs typeface="Arial"/>
              </a:rPr>
              <a:t>2026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4076000" y="2767799"/>
            <a:ext cx="2540000" cy="0"/>
          </a:xfrm>
          <a:custGeom>
            <a:avLst/>
            <a:gdLst/>
            <a:ahLst/>
            <a:cxnLst/>
            <a:rect l="l" t="t" r="r" b="b"/>
            <a:pathLst>
              <a:path w="2540000" h="0">
                <a:moveTo>
                  <a:pt x="0" y="0"/>
                </a:moveTo>
                <a:lnTo>
                  <a:pt x="2539999" y="0"/>
                </a:lnTo>
              </a:path>
            </a:pathLst>
          </a:custGeom>
          <a:ln w="25400">
            <a:solidFill>
              <a:srgbClr val="F2A8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Hallucination Evaluation in LLM-Based Medical Summarization</a:t>
            </a:r>
            <a:r>
              <a:rPr dirty="0" spc="204"/>
              <a:t> </a:t>
            </a:r>
            <a:r>
              <a:rPr dirty="0"/>
              <a:t>·</a:t>
            </a:r>
            <a:r>
              <a:rPr dirty="0" spc="200"/>
              <a:t> </a:t>
            </a:r>
            <a:r>
              <a:rPr dirty="0"/>
              <a:t>CSUN Comp</a:t>
            </a:r>
            <a:r>
              <a:rPr dirty="0" spc="5"/>
              <a:t> </a:t>
            </a:r>
            <a:r>
              <a:rPr dirty="0"/>
              <a:t>696C</a:t>
            </a:r>
            <a:r>
              <a:rPr dirty="0" spc="200"/>
              <a:t> </a:t>
            </a:r>
            <a:r>
              <a:rPr dirty="0"/>
              <a:t>·</a:t>
            </a:r>
            <a:r>
              <a:rPr dirty="0" spc="200"/>
              <a:t> </a:t>
            </a:r>
            <a:r>
              <a:rPr dirty="0"/>
              <a:t>April</a:t>
            </a:r>
            <a:r>
              <a:rPr dirty="0" spc="5"/>
              <a:t> </a:t>
            </a:r>
            <a:r>
              <a:rPr dirty="0" spc="-20"/>
              <a:t>2026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/>
              <a:t>10</a:t>
            </a:fld>
            <a:r>
              <a:rPr dirty="0" spc="-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867307" y="126599"/>
            <a:ext cx="295783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Motivation</a:t>
            </a:r>
            <a:r>
              <a:rPr dirty="0" sz="15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15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Problem</a:t>
            </a:r>
            <a:r>
              <a:rPr dirty="0" sz="15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Statement</a:t>
            </a:r>
            <a:endParaRPr sz="15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Hallucination Evaluation in LLM-Based Medical Summarization</a:t>
            </a:r>
            <a:r>
              <a:rPr dirty="0" spc="204"/>
              <a:t> </a:t>
            </a:r>
            <a:r>
              <a:rPr dirty="0"/>
              <a:t>·</a:t>
            </a:r>
            <a:r>
              <a:rPr dirty="0" spc="200"/>
              <a:t> </a:t>
            </a:r>
            <a:r>
              <a:rPr dirty="0"/>
              <a:t>CSUN Comp</a:t>
            </a:r>
            <a:r>
              <a:rPr dirty="0" spc="5"/>
              <a:t> </a:t>
            </a:r>
            <a:r>
              <a:rPr dirty="0"/>
              <a:t>696C</a:t>
            </a:r>
            <a:r>
              <a:rPr dirty="0" spc="200"/>
              <a:t> </a:t>
            </a:r>
            <a:r>
              <a:rPr dirty="0"/>
              <a:t>·</a:t>
            </a:r>
            <a:r>
              <a:rPr dirty="0" spc="200"/>
              <a:t> </a:t>
            </a:r>
            <a:r>
              <a:rPr dirty="0"/>
              <a:t>April</a:t>
            </a:r>
            <a:r>
              <a:rPr dirty="0" spc="5"/>
              <a:t> </a:t>
            </a:r>
            <a:r>
              <a:rPr dirty="0" spc="-20"/>
              <a:t>2026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/>
              <a:t>10</a:t>
            </a:fld>
            <a:r>
              <a:rPr dirty="0" spc="-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 spc="-25"/>
              <a:t>10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91300" y="634199"/>
            <a:ext cx="9768205" cy="2019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100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Why</a:t>
            </a:r>
            <a:r>
              <a:rPr dirty="0" u="heavy" sz="1100" spc="-25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100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This</a:t>
            </a:r>
            <a:r>
              <a:rPr dirty="0" u="heavy" sz="1100" spc="-25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100" spc="-10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Matters</a:t>
            </a:r>
            <a:endParaRPr sz="1100">
              <a:latin typeface="Arial"/>
              <a:cs typeface="Arial"/>
            </a:endParaRPr>
          </a:p>
          <a:p>
            <a:pPr marL="189865" indent="-177165">
              <a:lnSpc>
                <a:spcPct val="100000"/>
              </a:lnSpc>
              <a:spcBef>
                <a:spcPts val="780"/>
              </a:spcBef>
              <a:buChar char="•"/>
              <a:tabLst>
                <a:tab pos="189865" algn="l"/>
              </a:tabLst>
            </a:pPr>
            <a:r>
              <a:rPr dirty="0" sz="1000" b="1">
                <a:solidFill>
                  <a:srgbClr val="444444"/>
                </a:solidFill>
                <a:latin typeface="Arial"/>
                <a:cs typeface="Arial"/>
              </a:rPr>
              <a:t>Clinical NLP is</a:t>
            </a:r>
            <a:r>
              <a:rPr dirty="0" sz="1000" spc="5" b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444444"/>
                </a:solidFill>
                <a:latin typeface="Arial"/>
                <a:cs typeface="Arial"/>
              </a:rPr>
              <a:t>rapidly entering</a:t>
            </a:r>
            <a:r>
              <a:rPr dirty="0" sz="1000" spc="5" b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444444"/>
                </a:solidFill>
                <a:latin typeface="Arial"/>
                <a:cs typeface="Arial"/>
              </a:rPr>
              <a:t>practice: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LLMs</a:t>
            </a:r>
            <a:r>
              <a:rPr dirty="0" sz="1000" spc="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are used to</a:t>
            </a:r>
            <a:r>
              <a:rPr dirty="0" sz="1000" spc="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generate discharge</a:t>
            </a:r>
            <a:r>
              <a:rPr dirty="0" sz="1000" spc="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summaries, referral</a:t>
            </a:r>
            <a:r>
              <a:rPr dirty="0" sz="1000" spc="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letters, and patient-facing</a:t>
            </a:r>
            <a:r>
              <a:rPr dirty="0" sz="1000" spc="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notes at</a:t>
            </a:r>
            <a:r>
              <a:rPr dirty="0" sz="1000" spc="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444444"/>
                </a:solidFill>
                <a:latin typeface="Arial MT"/>
                <a:cs typeface="Arial MT"/>
              </a:rPr>
              <a:t>scale.</a:t>
            </a:r>
            <a:endParaRPr sz="1000">
              <a:latin typeface="Arial MT"/>
              <a:cs typeface="Arial MT"/>
            </a:endParaRPr>
          </a:p>
          <a:p>
            <a:pPr marL="189865" indent="-177165">
              <a:lnSpc>
                <a:spcPct val="100000"/>
              </a:lnSpc>
              <a:spcBef>
                <a:spcPts val="600"/>
              </a:spcBef>
              <a:buChar char="•"/>
              <a:tabLst>
                <a:tab pos="189865" algn="l"/>
              </a:tabLst>
            </a:pPr>
            <a:r>
              <a:rPr dirty="0" sz="1000" b="1">
                <a:solidFill>
                  <a:srgbClr val="444444"/>
                </a:solidFill>
                <a:latin typeface="Arial"/>
                <a:cs typeface="Arial"/>
              </a:rPr>
              <a:t>Hallucinations</a:t>
            </a:r>
            <a:r>
              <a:rPr dirty="0" sz="1000" spc="-5" b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444444"/>
                </a:solidFill>
                <a:latin typeface="Arial"/>
                <a:cs typeface="Arial"/>
              </a:rPr>
              <a:t>are dangerous:</a:t>
            </a:r>
            <a:r>
              <a:rPr dirty="0" sz="1000" spc="-5" b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Fabricated medications,</a:t>
            </a:r>
            <a:r>
              <a:rPr dirty="0" sz="10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incorrect dosages, or</a:t>
            </a:r>
            <a:r>
              <a:rPr dirty="0" sz="10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invented diagnoses</a:t>
            </a:r>
            <a:r>
              <a:rPr dirty="0" sz="10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in a</a:t>
            </a:r>
            <a:r>
              <a:rPr dirty="0" sz="10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clinical summary can</a:t>
            </a:r>
            <a:r>
              <a:rPr dirty="0" sz="10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directly harm</a:t>
            </a:r>
            <a:r>
              <a:rPr dirty="0" sz="10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444444"/>
                </a:solidFill>
                <a:latin typeface="Arial MT"/>
                <a:cs typeface="Arial MT"/>
              </a:rPr>
              <a:t>patients.</a:t>
            </a:r>
            <a:endParaRPr sz="1000">
              <a:latin typeface="Arial MT"/>
              <a:cs typeface="Arial MT"/>
            </a:endParaRPr>
          </a:p>
          <a:p>
            <a:pPr marL="189865" indent="-177165">
              <a:lnSpc>
                <a:spcPct val="100000"/>
              </a:lnSpc>
              <a:spcBef>
                <a:spcPts val="600"/>
              </a:spcBef>
              <a:buChar char="•"/>
              <a:tabLst>
                <a:tab pos="189865" algn="l"/>
              </a:tabLst>
            </a:pPr>
            <a:r>
              <a:rPr dirty="0" sz="1000" b="1">
                <a:solidFill>
                  <a:srgbClr val="444444"/>
                </a:solidFill>
                <a:latin typeface="Arial"/>
                <a:cs typeface="Arial"/>
              </a:rPr>
              <a:t>Verification</a:t>
            </a:r>
            <a:r>
              <a:rPr dirty="0" sz="1000" spc="-5" b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444444"/>
                </a:solidFill>
                <a:latin typeface="Arial"/>
                <a:cs typeface="Arial"/>
              </a:rPr>
              <a:t>gap: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Clinicians</a:t>
            </a:r>
            <a:r>
              <a:rPr dirty="0" sz="10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reviewing AI-generated text</a:t>
            </a:r>
            <a:r>
              <a:rPr dirty="0" sz="10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may over-trust outputs</a:t>
            </a:r>
            <a:r>
              <a:rPr dirty="0" sz="10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without systematic verification</a:t>
            </a:r>
            <a:r>
              <a:rPr dirty="0" sz="10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444444"/>
                </a:solidFill>
                <a:latin typeface="Arial MT"/>
                <a:cs typeface="Arial MT"/>
              </a:rPr>
              <a:t>frameworks.</a:t>
            </a:r>
            <a:endParaRPr sz="1000">
              <a:latin typeface="Arial MT"/>
              <a:cs typeface="Arial MT"/>
            </a:endParaRPr>
          </a:p>
          <a:p>
            <a:pPr marL="190500" marR="209550" indent="-177800">
              <a:lnSpc>
                <a:spcPct val="108300"/>
              </a:lnSpc>
              <a:spcBef>
                <a:spcPts val="500"/>
              </a:spcBef>
              <a:buChar char="•"/>
              <a:tabLst>
                <a:tab pos="190500" algn="l"/>
              </a:tabLst>
            </a:pPr>
            <a:r>
              <a:rPr dirty="0" sz="1000" b="1">
                <a:solidFill>
                  <a:srgbClr val="444444"/>
                </a:solidFill>
                <a:latin typeface="Arial"/>
                <a:cs typeface="Arial"/>
              </a:rPr>
              <a:t>RAG</a:t>
            </a:r>
            <a:r>
              <a:rPr dirty="0" sz="1000" spc="-5" b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444444"/>
                </a:solidFill>
                <a:latin typeface="Arial"/>
                <a:cs typeface="Arial"/>
              </a:rPr>
              <a:t>as a mitigation: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Retrieval-Augmented Generation constrains</a:t>
            </a:r>
            <a:r>
              <a:rPr dirty="0" sz="10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the model to retrieved source passages —</a:t>
            </a:r>
            <a:r>
              <a:rPr dirty="0" sz="10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but its effect on hallucination rates</a:t>
            </a:r>
            <a:r>
              <a:rPr dirty="0" sz="10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is poorly quantified </a:t>
            </a:r>
            <a:r>
              <a:rPr dirty="0" sz="1000" spc="-25">
                <a:solidFill>
                  <a:srgbClr val="444444"/>
                </a:solidFill>
                <a:latin typeface="Arial MT"/>
                <a:cs typeface="Arial MT"/>
              </a:rPr>
              <a:t>in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the</a:t>
            </a:r>
            <a:r>
              <a:rPr dirty="0" sz="1000" spc="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medical</a:t>
            </a:r>
            <a:r>
              <a:rPr dirty="0" sz="1000" spc="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444444"/>
                </a:solidFill>
                <a:latin typeface="Arial MT"/>
                <a:cs typeface="Arial MT"/>
              </a:rPr>
              <a:t>domain.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u="heavy" sz="1100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The</a:t>
            </a:r>
            <a:r>
              <a:rPr dirty="0" u="heavy" sz="1100" spc="-25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100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Core</a:t>
            </a:r>
            <a:r>
              <a:rPr dirty="0" u="heavy" sz="1100" spc="-20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100" spc="-10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Problem</a:t>
            </a:r>
            <a:endParaRPr sz="1100">
              <a:latin typeface="Arial"/>
              <a:cs typeface="Arial"/>
            </a:endParaRPr>
          </a:p>
          <a:p>
            <a:pPr marL="190500" marR="5080">
              <a:lnSpc>
                <a:spcPct val="108300"/>
              </a:lnSpc>
              <a:spcBef>
                <a:spcPts val="680"/>
              </a:spcBef>
            </a:pPr>
            <a:r>
              <a:rPr dirty="0" sz="1000" i="1">
                <a:solidFill>
                  <a:srgbClr val="333333"/>
                </a:solidFill>
                <a:latin typeface="Arial"/>
                <a:cs typeface="Arial"/>
              </a:rPr>
              <a:t>We lack a</a:t>
            </a:r>
            <a:r>
              <a:rPr dirty="0" sz="1000" spc="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333333"/>
                </a:solidFill>
                <a:latin typeface="Arial"/>
                <a:cs typeface="Arial"/>
              </a:rPr>
              <a:t>reproducible, </a:t>
            </a:r>
            <a:r>
              <a:rPr dirty="0" sz="1000" spc="-10" i="1">
                <a:solidFill>
                  <a:srgbClr val="333333"/>
                </a:solidFill>
                <a:latin typeface="Arial"/>
                <a:cs typeface="Arial"/>
              </a:rPr>
              <a:t>claim-</a:t>
            </a:r>
            <a:r>
              <a:rPr dirty="0" sz="1000" i="1">
                <a:solidFill>
                  <a:srgbClr val="333333"/>
                </a:solidFill>
                <a:latin typeface="Arial"/>
                <a:cs typeface="Arial"/>
              </a:rPr>
              <a:t>level</a:t>
            </a:r>
            <a:r>
              <a:rPr dirty="0" sz="1000" spc="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333333"/>
                </a:solidFill>
                <a:latin typeface="Arial"/>
                <a:cs typeface="Arial"/>
              </a:rPr>
              <a:t>metric framework</a:t>
            </a:r>
            <a:r>
              <a:rPr dirty="0" sz="1000" spc="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333333"/>
                </a:solidFill>
                <a:latin typeface="Arial"/>
                <a:cs typeface="Arial"/>
              </a:rPr>
              <a:t>that quantifies how</a:t>
            </a:r>
            <a:r>
              <a:rPr dirty="0" sz="1000" spc="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333333"/>
                </a:solidFill>
                <a:latin typeface="Arial"/>
                <a:cs typeface="Arial"/>
              </a:rPr>
              <a:t>often LLM-generated</a:t>
            </a:r>
            <a:r>
              <a:rPr dirty="0" sz="1000" spc="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333333"/>
                </a:solidFill>
                <a:latin typeface="Arial"/>
                <a:cs typeface="Arial"/>
              </a:rPr>
              <a:t>medical summaries</a:t>
            </a:r>
            <a:r>
              <a:rPr dirty="0" sz="1000" spc="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333333"/>
                </a:solidFill>
                <a:latin typeface="Arial"/>
                <a:cs typeface="Arial"/>
              </a:rPr>
              <a:t>introduce unsupported</a:t>
            </a:r>
            <a:r>
              <a:rPr dirty="0" sz="1000" spc="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333333"/>
                </a:solidFill>
                <a:latin typeface="Arial"/>
                <a:cs typeface="Arial"/>
              </a:rPr>
              <a:t>or contradicted facts</a:t>
            </a:r>
            <a:r>
              <a:rPr dirty="0" sz="1000" spc="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333333"/>
                </a:solidFill>
                <a:latin typeface="Arial"/>
                <a:cs typeface="Arial"/>
              </a:rPr>
              <a:t>— and</a:t>
            </a:r>
            <a:r>
              <a:rPr dirty="0" sz="1000" spc="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000" spc="-25" i="1">
                <a:solidFill>
                  <a:srgbClr val="333333"/>
                </a:solidFill>
                <a:latin typeface="Arial"/>
                <a:cs typeface="Arial"/>
              </a:rPr>
              <a:t>how </a:t>
            </a:r>
            <a:r>
              <a:rPr dirty="0" sz="1000" i="1">
                <a:solidFill>
                  <a:srgbClr val="333333"/>
                </a:solidFill>
                <a:latin typeface="Arial"/>
                <a:cs typeface="Arial"/>
              </a:rPr>
              <a:t>much RAG </a:t>
            </a:r>
            <a:r>
              <a:rPr dirty="0" sz="1000" spc="-10" i="1">
                <a:solidFill>
                  <a:srgbClr val="333333"/>
                </a:solidFill>
                <a:latin typeface="Arial"/>
                <a:cs typeface="Arial"/>
              </a:rPr>
              <a:t>helps.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750626" y="126599"/>
            <a:ext cx="319151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Research</a:t>
            </a:r>
            <a:r>
              <a:rPr dirty="0" sz="15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Questions</a:t>
            </a:r>
            <a:r>
              <a:rPr dirty="0" sz="15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15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Hypotheses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Hallucination Evaluation in LLM-Based Medical Summarization</a:t>
            </a:r>
            <a:r>
              <a:rPr dirty="0" spc="204"/>
              <a:t> </a:t>
            </a:r>
            <a:r>
              <a:rPr dirty="0"/>
              <a:t>·</a:t>
            </a:r>
            <a:r>
              <a:rPr dirty="0" spc="200"/>
              <a:t> </a:t>
            </a:r>
            <a:r>
              <a:rPr dirty="0"/>
              <a:t>CSUN Comp</a:t>
            </a:r>
            <a:r>
              <a:rPr dirty="0" spc="5"/>
              <a:t> </a:t>
            </a:r>
            <a:r>
              <a:rPr dirty="0"/>
              <a:t>696C</a:t>
            </a:r>
            <a:r>
              <a:rPr dirty="0" spc="200"/>
              <a:t> </a:t>
            </a:r>
            <a:r>
              <a:rPr dirty="0"/>
              <a:t>·</a:t>
            </a:r>
            <a:r>
              <a:rPr dirty="0" spc="200"/>
              <a:t> </a:t>
            </a:r>
            <a:r>
              <a:rPr dirty="0"/>
              <a:t>April</a:t>
            </a:r>
            <a:r>
              <a:rPr dirty="0" spc="5"/>
              <a:t> </a:t>
            </a:r>
            <a:r>
              <a:rPr dirty="0" spc="-20"/>
              <a:t>2026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/>
              <a:t>10</a:t>
            </a:fld>
            <a:r>
              <a:rPr dirty="0" spc="-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 spc="-25"/>
              <a:t>10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91300" y="634199"/>
            <a:ext cx="7813675" cy="1930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100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Research</a:t>
            </a:r>
            <a:r>
              <a:rPr dirty="0" u="heavy" sz="1100" spc="-50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100" spc="-10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Questions</a:t>
            </a:r>
            <a:endParaRPr sz="1100">
              <a:latin typeface="Arial"/>
              <a:cs typeface="Arial"/>
            </a:endParaRPr>
          </a:p>
          <a:p>
            <a:pPr marL="189865" indent="-177165">
              <a:lnSpc>
                <a:spcPct val="100000"/>
              </a:lnSpc>
              <a:spcBef>
                <a:spcPts val="780"/>
              </a:spcBef>
              <a:buFont typeface="Arial"/>
              <a:buChar char="•"/>
              <a:tabLst>
                <a:tab pos="189865" algn="l"/>
              </a:tabLst>
            </a:pP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RQ1: To what</a:t>
            </a:r>
            <a:r>
              <a:rPr dirty="0" sz="1000" spc="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extent do LLM-generated</a:t>
            </a:r>
            <a:r>
              <a:rPr dirty="0" sz="1000" spc="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medical summaries</a:t>
            </a:r>
            <a:r>
              <a:rPr dirty="0" sz="1000" spc="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contain unsupported or</a:t>
            </a:r>
            <a:r>
              <a:rPr dirty="0" sz="1000" spc="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contradicted facts</a:t>
            </a:r>
            <a:r>
              <a:rPr dirty="0" sz="1000" spc="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relative to the</a:t>
            </a:r>
            <a:r>
              <a:rPr dirty="0" sz="1000" spc="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source </a:t>
            </a:r>
            <a:r>
              <a:rPr dirty="0" sz="1000" spc="-10">
                <a:solidFill>
                  <a:srgbClr val="444444"/>
                </a:solidFill>
                <a:latin typeface="Arial MT"/>
                <a:cs typeface="Arial MT"/>
              </a:rPr>
              <a:t>document?</a:t>
            </a:r>
            <a:endParaRPr sz="1000">
              <a:latin typeface="Arial MT"/>
              <a:cs typeface="Arial MT"/>
            </a:endParaRPr>
          </a:p>
          <a:p>
            <a:pPr marL="189865" indent="-177165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189865" algn="l"/>
              </a:tabLst>
            </a:pP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RQ2:</a:t>
            </a:r>
            <a:r>
              <a:rPr dirty="0" sz="10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Does retrieval-augmented generation (RAG)</a:t>
            </a:r>
            <a:r>
              <a:rPr dirty="0" sz="10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significantly reduce hallucination rates</a:t>
            </a:r>
            <a:r>
              <a:rPr dirty="0" sz="10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compared to a non-retrieval </a:t>
            </a:r>
            <a:r>
              <a:rPr dirty="0" sz="1000" spc="-10">
                <a:solidFill>
                  <a:srgbClr val="444444"/>
                </a:solidFill>
                <a:latin typeface="Arial MT"/>
                <a:cs typeface="Arial MT"/>
              </a:rPr>
              <a:t>baseline?</a:t>
            </a:r>
            <a:endParaRPr sz="1000">
              <a:latin typeface="Arial MT"/>
              <a:cs typeface="Arial MT"/>
            </a:endParaRPr>
          </a:p>
          <a:p>
            <a:pPr marL="189865" indent="-177165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189865" algn="l"/>
              </a:tabLst>
            </a:pP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RQ3: What types of</a:t>
            </a:r>
            <a:r>
              <a:rPr dirty="0" sz="1000" spc="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hallucinations persist even</a:t>
            </a:r>
            <a:r>
              <a:rPr dirty="0" sz="1000" spc="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with RAG, and</a:t>
            </a:r>
            <a:r>
              <a:rPr dirty="0" sz="1000" spc="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can verification-stage prompting</a:t>
            </a:r>
            <a:r>
              <a:rPr dirty="0" sz="1000" spc="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(CoVe) address </a:t>
            </a:r>
            <a:r>
              <a:rPr dirty="0" sz="1000" spc="-10">
                <a:solidFill>
                  <a:srgbClr val="444444"/>
                </a:solidFill>
                <a:latin typeface="Arial MT"/>
                <a:cs typeface="Arial MT"/>
              </a:rPr>
              <a:t>them?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0"/>
              </a:spcBef>
              <a:buClr>
                <a:srgbClr val="444444"/>
              </a:buClr>
              <a:buFont typeface="Arial"/>
              <a:buChar char="•"/>
            </a:pP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u="heavy" sz="1100" spc="-10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Hypotheses</a:t>
            </a:r>
            <a:endParaRPr sz="1100">
              <a:latin typeface="Arial"/>
              <a:cs typeface="Arial"/>
            </a:endParaRPr>
          </a:p>
          <a:p>
            <a:pPr marL="189865" indent="-177165">
              <a:lnSpc>
                <a:spcPct val="100000"/>
              </a:lnSpc>
              <a:spcBef>
                <a:spcPts val="780"/>
              </a:spcBef>
              <a:buChar char="•"/>
              <a:tabLst>
                <a:tab pos="189865" algn="l"/>
              </a:tabLst>
            </a:pPr>
            <a:r>
              <a:rPr dirty="0" sz="1000" b="1">
                <a:solidFill>
                  <a:srgbClr val="444444"/>
                </a:solidFill>
                <a:latin typeface="Arial"/>
                <a:cs typeface="Arial"/>
              </a:rPr>
              <a:t>H1:</a:t>
            </a:r>
            <a:r>
              <a:rPr dirty="0" sz="1000" spc="-10" b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Baseline</a:t>
            </a:r>
            <a:r>
              <a:rPr dirty="0" sz="10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LLM summaries</a:t>
            </a:r>
            <a:r>
              <a:rPr dirty="0" sz="10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will</a:t>
            </a:r>
            <a:r>
              <a:rPr dirty="0" sz="10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exhibit UFR</a:t>
            </a:r>
            <a:r>
              <a:rPr dirty="0" sz="10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&gt; 0.5,</a:t>
            </a:r>
            <a:r>
              <a:rPr dirty="0" sz="10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reflecting</a:t>
            </a:r>
            <a:r>
              <a:rPr dirty="0" sz="10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a high</a:t>
            </a:r>
            <a:r>
              <a:rPr dirty="0" sz="10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rate of</a:t>
            </a:r>
            <a:r>
              <a:rPr dirty="0" sz="10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ungrounded</a:t>
            </a:r>
            <a:r>
              <a:rPr dirty="0" sz="10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claims in</a:t>
            </a:r>
            <a:r>
              <a:rPr dirty="0" sz="10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unconstrained </a:t>
            </a:r>
            <a:r>
              <a:rPr dirty="0" sz="1000" spc="-10">
                <a:solidFill>
                  <a:srgbClr val="444444"/>
                </a:solidFill>
                <a:latin typeface="Arial MT"/>
                <a:cs typeface="Arial MT"/>
              </a:rPr>
              <a:t>generation.</a:t>
            </a:r>
            <a:endParaRPr sz="1000">
              <a:latin typeface="Arial MT"/>
              <a:cs typeface="Arial MT"/>
            </a:endParaRPr>
          </a:p>
          <a:p>
            <a:pPr marL="189865" indent="-177165">
              <a:lnSpc>
                <a:spcPct val="100000"/>
              </a:lnSpc>
              <a:spcBef>
                <a:spcPts val="500"/>
              </a:spcBef>
              <a:buChar char="•"/>
              <a:tabLst>
                <a:tab pos="189865" algn="l"/>
              </a:tabLst>
            </a:pPr>
            <a:r>
              <a:rPr dirty="0" sz="1000" b="1">
                <a:solidFill>
                  <a:srgbClr val="444444"/>
                </a:solidFill>
                <a:latin typeface="Arial"/>
                <a:cs typeface="Arial"/>
              </a:rPr>
              <a:t>H2:</a:t>
            </a:r>
            <a:r>
              <a:rPr dirty="0" sz="1000" spc="-10" b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RAG-augmented summaries will have significantly lower CR than</a:t>
            </a:r>
            <a:r>
              <a:rPr dirty="0" sz="10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baseline (p &lt; 0.05, Wilcoxon signed-rank </a:t>
            </a:r>
            <a:r>
              <a:rPr dirty="0" sz="1000" spc="-10">
                <a:solidFill>
                  <a:srgbClr val="444444"/>
                </a:solidFill>
                <a:latin typeface="Arial MT"/>
                <a:cs typeface="Arial MT"/>
              </a:rPr>
              <a:t>test).</a:t>
            </a:r>
            <a:endParaRPr sz="1000">
              <a:latin typeface="Arial MT"/>
              <a:cs typeface="Arial MT"/>
            </a:endParaRPr>
          </a:p>
          <a:p>
            <a:pPr marL="189865" indent="-177165">
              <a:lnSpc>
                <a:spcPct val="100000"/>
              </a:lnSpc>
              <a:spcBef>
                <a:spcPts val="500"/>
              </a:spcBef>
              <a:buChar char="•"/>
              <a:tabLst>
                <a:tab pos="189865" algn="l"/>
              </a:tabLst>
            </a:pPr>
            <a:r>
              <a:rPr dirty="0" sz="1000" b="1">
                <a:solidFill>
                  <a:srgbClr val="444444"/>
                </a:solidFill>
                <a:latin typeface="Arial"/>
                <a:cs typeface="Arial"/>
              </a:rPr>
              <a:t>H3:</a:t>
            </a:r>
            <a:r>
              <a:rPr dirty="0" sz="1000" spc="-10" b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A</a:t>
            </a:r>
            <a:r>
              <a:rPr dirty="0" sz="10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verification</a:t>
            </a:r>
            <a:r>
              <a:rPr dirty="0" sz="10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stage (E3</a:t>
            </a:r>
            <a:r>
              <a:rPr dirty="0" sz="10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CoVe)</a:t>
            </a:r>
            <a:r>
              <a:rPr dirty="0" sz="10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will</a:t>
            </a:r>
            <a:r>
              <a:rPr dirty="0" sz="10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further reduce</a:t>
            </a:r>
            <a:r>
              <a:rPr dirty="0" sz="10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UFR</a:t>
            </a:r>
            <a:r>
              <a:rPr dirty="0" sz="10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beyond what</a:t>
            </a:r>
            <a:r>
              <a:rPr dirty="0" sz="10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retrieval</a:t>
            </a:r>
            <a:r>
              <a:rPr dirty="0" sz="10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alone</a:t>
            </a:r>
            <a:r>
              <a:rPr dirty="0" sz="10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444444"/>
                </a:solidFill>
                <a:latin typeface="Arial MT"/>
                <a:cs typeface="Arial MT"/>
              </a:rPr>
              <a:t>achieves.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719003" y="126599"/>
            <a:ext cx="325374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Methodology — Evaluation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Pipeline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275650" y="856449"/>
            <a:ext cx="1219200" cy="800100"/>
            <a:chOff x="1275650" y="856449"/>
            <a:chExt cx="1219200" cy="800100"/>
          </a:xfrm>
        </p:grpSpPr>
        <p:sp>
          <p:nvSpPr>
            <p:cNvPr id="4" name="object 4" descr=""/>
            <p:cNvSpPr/>
            <p:nvPr/>
          </p:nvSpPr>
          <p:spPr>
            <a:xfrm>
              <a:off x="1282000" y="862799"/>
              <a:ext cx="1206500" cy="787400"/>
            </a:xfrm>
            <a:custGeom>
              <a:avLst/>
              <a:gdLst/>
              <a:ahLst/>
              <a:cxnLst/>
              <a:rect l="l" t="t" r="r" b="b"/>
              <a:pathLst>
                <a:path w="1206500" h="787400">
                  <a:moveTo>
                    <a:pt x="1142999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723900"/>
                  </a:lnTo>
                  <a:lnTo>
                    <a:pt x="4985" y="748630"/>
                  </a:lnTo>
                  <a:lnTo>
                    <a:pt x="18586" y="768813"/>
                  </a:lnTo>
                  <a:lnTo>
                    <a:pt x="38769" y="782414"/>
                  </a:lnTo>
                  <a:lnTo>
                    <a:pt x="63500" y="787400"/>
                  </a:lnTo>
                  <a:lnTo>
                    <a:pt x="1142999" y="787400"/>
                  </a:lnTo>
                  <a:lnTo>
                    <a:pt x="1167730" y="782414"/>
                  </a:lnTo>
                  <a:lnTo>
                    <a:pt x="1187913" y="768813"/>
                  </a:lnTo>
                  <a:lnTo>
                    <a:pt x="1201514" y="748630"/>
                  </a:lnTo>
                  <a:lnTo>
                    <a:pt x="1206499" y="723900"/>
                  </a:lnTo>
                  <a:lnTo>
                    <a:pt x="1206499" y="63500"/>
                  </a:lnTo>
                  <a:lnTo>
                    <a:pt x="1201514" y="38769"/>
                  </a:lnTo>
                  <a:lnTo>
                    <a:pt x="1187913" y="18586"/>
                  </a:lnTo>
                  <a:lnTo>
                    <a:pt x="1167730" y="4985"/>
                  </a:lnTo>
                  <a:lnTo>
                    <a:pt x="1142999" y="0"/>
                  </a:lnTo>
                  <a:close/>
                </a:path>
              </a:pathLst>
            </a:custGeom>
            <a:solidFill>
              <a:srgbClr val="E8D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282000" y="862799"/>
              <a:ext cx="1206500" cy="787400"/>
            </a:xfrm>
            <a:custGeom>
              <a:avLst/>
              <a:gdLst/>
              <a:ahLst/>
              <a:cxnLst/>
              <a:rect l="l" t="t" r="r" b="b"/>
              <a:pathLst>
                <a:path w="1206500" h="787400">
                  <a:moveTo>
                    <a:pt x="63500" y="787400"/>
                  </a:moveTo>
                  <a:lnTo>
                    <a:pt x="1142999" y="787400"/>
                  </a:lnTo>
                  <a:lnTo>
                    <a:pt x="1167730" y="782414"/>
                  </a:lnTo>
                  <a:lnTo>
                    <a:pt x="1187913" y="768813"/>
                  </a:lnTo>
                  <a:lnTo>
                    <a:pt x="1201514" y="748630"/>
                  </a:lnTo>
                  <a:lnTo>
                    <a:pt x="1206499" y="723900"/>
                  </a:lnTo>
                  <a:lnTo>
                    <a:pt x="1206499" y="63500"/>
                  </a:lnTo>
                  <a:lnTo>
                    <a:pt x="1201514" y="38769"/>
                  </a:lnTo>
                  <a:lnTo>
                    <a:pt x="1187913" y="18586"/>
                  </a:lnTo>
                  <a:lnTo>
                    <a:pt x="1167730" y="4985"/>
                  </a:lnTo>
                  <a:lnTo>
                    <a:pt x="1142999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723900"/>
                  </a:lnTo>
                  <a:lnTo>
                    <a:pt x="4985" y="748630"/>
                  </a:lnTo>
                  <a:lnTo>
                    <a:pt x="18586" y="768813"/>
                  </a:lnTo>
                  <a:lnTo>
                    <a:pt x="38769" y="782414"/>
                  </a:lnTo>
                  <a:lnTo>
                    <a:pt x="63500" y="787400"/>
                  </a:lnTo>
                  <a:close/>
                </a:path>
              </a:pathLst>
            </a:custGeom>
            <a:ln w="12700">
              <a:solidFill>
                <a:srgbClr val="572B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626585" y="1050236"/>
            <a:ext cx="517525" cy="31051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64769">
              <a:lnSpc>
                <a:spcPct val="100000"/>
              </a:lnSpc>
              <a:spcBef>
                <a:spcPts val="175"/>
              </a:spcBef>
            </a:pPr>
            <a:r>
              <a:rPr dirty="0" sz="900" spc="-10" b="1">
                <a:solidFill>
                  <a:srgbClr val="572B82"/>
                </a:solidFill>
                <a:latin typeface="Arial"/>
                <a:cs typeface="Arial"/>
              </a:rPr>
              <a:t>Source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850" spc="-10">
                <a:solidFill>
                  <a:srgbClr val="444444"/>
                </a:solidFill>
                <a:latin typeface="Arial MT"/>
                <a:cs typeface="Arial MT"/>
              </a:rPr>
              <a:t>Document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2479610" y="856449"/>
            <a:ext cx="1399540" cy="800100"/>
            <a:chOff x="2479610" y="856449"/>
            <a:chExt cx="1399540" cy="800100"/>
          </a:xfrm>
        </p:grpSpPr>
        <p:sp>
          <p:nvSpPr>
            <p:cNvPr id="8" name="object 8" descr=""/>
            <p:cNvSpPr/>
            <p:nvPr/>
          </p:nvSpPr>
          <p:spPr>
            <a:xfrm>
              <a:off x="2488500" y="1256499"/>
              <a:ext cx="177800" cy="0"/>
            </a:xfrm>
            <a:custGeom>
              <a:avLst/>
              <a:gdLst/>
              <a:ahLst/>
              <a:cxnLst/>
              <a:rect l="l" t="t" r="r" b="b"/>
              <a:pathLst>
                <a:path w="177800" h="0">
                  <a:moveTo>
                    <a:pt x="0" y="0"/>
                  </a:moveTo>
                  <a:lnTo>
                    <a:pt x="177800" y="0"/>
                  </a:lnTo>
                </a:path>
              </a:pathLst>
            </a:custGeom>
            <a:ln w="17780">
              <a:solidFill>
                <a:srgbClr val="572B8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590100" y="1205699"/>
              <a:ext cx="76200" cy="101600"/>
            </a:xfrm>
            <a:custGeom>
              <a:avLst/>
              <a:gdLst/>
              <a:ahLst/>
              <a:cxnLst/>
              <a:rect l="l" t="t" r="r" b="b"/>
              <a:pathLst>
                <a:path w="76200" h="101600">
                  <a:moveTo>
                    <a:pt x="0" y="0"/>
                  </a:moveTo>
                  <a:lnTo>
                    <a:pt x="0" y="101600"/>
                  </a:lnTo>
                  <a:lnTo>
                    <a:pt x="76200" y="5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2B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666300" y="862799"/>
              <a:ext cx="1206500" cy="787400"/>
            </a:xfrm>
            <a:custGeom>
              <a:avLst/>
              <a:gdLst/>
              <a:ahLst/>
              <a:cxnLst/>
              <a:rect l="l" t="t" r="r" b="b"/>
              <a:pathLst>
                <a:path w="1206500" h="787400">
                  <a:moveTo>
                    <a:pt x="11430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723900"/>
                  </a:lnTo>
                  <a:lnTo>
                    <a:pt x="4985" y="748630"/>
                  </a:lnTo>
                  <a:lnTo>
                    <a:pt x="18586" y="768813"/>
                  </a:lnTo>
                  <a:lnTo>
                    <a:pt x="38769" y="782414"/>
                  </a:lnTo>
                  <a:lnTo>
                    <a:pt x="63500" y="787400"/>
                  </a:lnTo>
                  <a:lnTo>
                    <a:pt x="1143000" y="787400"/>
                  </a:lnTo>
                  <a:lnTo>
                    <a:pt x="1167730" y="782414"/>
                  </a:lnTo>
                  <a:lnTo>
                    <a:pt x="1187913" y="768813"/>
                  </a:lnTo>
                  <a:lnTo>
                    <a:pt x="1201514" y="748630"/>
                  </a:lnTo>
                  <a:lnTo>
                    <a:pt x="1206500" y="723900"/>
                  </a:lnTo>
                  <a:lnTo>
                    <a:pt x="1206500" y="63500"/>
                  </a:lnTo>
                  <a:lnTo>
                    <a:pt x="1201514" y="38769"/>
                  </a:lnTo>
                  <a:lnTo>
                    <a:pt x="1187913" y="18586"/>
                  </a:lnTo>
                  <a:lnTo>
                    <a:pt x="1167730" y="4985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D6E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666300" y="862799"/>
              <a:ext cx="1206500" cy="787400"/>
            </a:xfrm>
            <a:custGeom>
              <a:avLst/>
              <a:gdLst/>
              <a:ahLst/>
              <a:cxnLst/>
              <a:rect l="l" t="t" r="r" b="b"/>
              <a:pathLst>
                <a:path w="1206500" h="787400">
                  <a:moveTo>
                    <a:pt x="63500" y="787400"/>
                  </a:moveTo>
                  <a:lnTo>
                    <a:pt x="1143000" y="787400"/>
                  </a:lnTo>
                  <a:lnTo>
                    <a:pt x="1167730" y="782414"/>
                  </a:lnTo>
                  <a:lnTo>
                    <a:pt x="1187913" y="768813"/>
                  </a:lnTo>
                  <a:lnTo>
                    <a:pt x="1201514" y="748630"/>
                  </a:lnTo>
                  <a:lnTo>
                    <a:pt x="1206500" y="723900"/>
                  </a:lnTo>
                  <a:lnTo>
                    <a:pt x="1206500" y="63500"/>
                  </a:lnTo>
                  <a:lnTo>
                    <a:pt x="1201514" y="38769"/>
                  </a:lnTo>
                  <a:lnTo>
                    <a:pt x="1187913" y="18586"/>
                  </a:lnTo>
                  <a:lnTo>
                    <a:pt x="1167730" y="4985"/>
                  </a:lnTo>
                  <a:lnTo>
                    <a:pt x="11430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723900"/>
                  </a:lnTo>
                  <a:lnTo>
                    <a:pt x="4985" y="748630"/>
                  </a:lnTo>
                  <a:lnTo>
                    <a:pt x="18586" y="768813"/>
                  </a:lnTo>
                  <a:lnTo>
                    <a:pt x="38769" y="782414"/>
                  </a:lnTo>
                  <a:lnTo>
                    <a:pt x="63500" y="787400"/>
                  </a:lnTo>
                  <a:close/>
                </a:path>
              </a:pathLst>
            </a:custGeom>
            <a:ln w="12700">
              <a:solidFill>
                <a:srgbClr val="572B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2989835" y="980386"/>
            <a:ext cx="560070" cy="4502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 indent="6350">
              <a:lnSpc>
                <a:spcPct val="107200"/>
              </a:lnSpc>
              <a:spcBef>
                <a:spcPts val="95"/>
              </a:spcBef>
            </a:pPr>
            <a:r>
              <a:rPr dirty="0" sz="900" spc="-10" b="1">
                <a:solidFill>
                  <a:srgbClr val="572B82"/>
                </a:solidFill>
                <a:latin typeface="Arial"/>
                <a:cs typeface="Arial"/>
              </a:rPr>
              <a:t>Summary </a:t>
            </a:r>
            <a:r>
              <a:rPr dirty="0" sz="850" spc="-10">
                <a:solidFill>
                  <a:srgbClr val="444444"/>
                </a:solidFill>
                <a:latin typeface="Arial MT"/>
                <a:cs typeface="Arial MT"/>
              </a:rPr>
              <a:t>Generation (E0/E1/E2)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3863910" y="856449"/>
            <a:ext cx="1399540" cy="800100"/>
            <a:chOff x="3863910" y="856449"/>
            <a:chExt cx="1399540" cy="800100"/>
          </a:xfrm>
        </p:grpSpPr>
        <p:sp>
          <p:nvSpPr>
            <p:cNvPr id="14" name="object 14" descr=""/>
            <p:cNvSpPr/>
            <p:nvPr/>
          </p:nvSpPr>
          <p:spPr>
            <a:xfrm>
              <a:off x="3872800" y="1256499"/>
              <a:ext cx="177800" cy="0"/>
            </a:xfrm>
            <a:custGeom>
              <a:avLst/>
              <a:gdLst/>
              <a:ahLst/>
              <a:cxnLst/>
              <a:rect l="l" t="t" r="r" b="b"/>
              <a:pathLst>
                <a:path w="177800" h="0">
                  <a:moveTo>
                    <a:pt x="0" y="0"/>
                  </a:moveTo>
                  <a:lnTo>
                    <a:pt x="177800" y="0"/>
                  </a:lnTo>
                </a:path>
              </a:pathLst>
            </a:custGeom>
            <a:ln w="17780">
              <a:solidFill>
                <a:srgbClr val="572B8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974400" y="1205699"/>
              <a:ext cx="76200" cy="101600"/>
            </a:xfrm>
            <a:custGeom>
              <a:avLst/>
              <a:gdLst/>
              <a:ahLst/>
              <a:cxnLst/>
              <a:rect l="l" t="t" r="r" b="b"/>
              <a:pathLst>
                <a:path w="76200" h="101600">
                  <a:moveTo>
                    <a:pt x="0" y="0"/>
                  </a:moveTo>
                  <a:lnTo>
                    <a:pt x="0" y="101600"/>
                  </a:lnTo>
                  <a:lnTo>
                    <a:pt x="76200" y="5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2B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050600" y="862799"/>
              <a:ext cx="1206500" cy="787400"/>
            </a:xfrm>
            <a:custGeom>
              <a:avLst/>
              <a:gdLst/>
              <a:ahLst/>
              <a:cxnLst/>
              <a:rect l="l" t="t" r="r" b="b"/>
              <a:pathLst>
                <a:path w="1206500" h="787400">
                  <a:moveTo>
                    <a:pt x="11430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723900"/>
                  </a:lnTo>
                  <a:lnTo>
                    <a:pt x="4985" y="748630"/>
                  </a:lnTo>
                  <a:lnTo>
                    <a:pt x="18586" y="768813"/>
                  </a:lnTo>
                  <a:lnTo>
                    <a:pt x="38769" y="782414"/>
                  </a:lnTo>
                  <a:lnTo>
                    <a:pt x="63500" y="787400"/>
                  </a:lnTo>
                  <a:lnTo>
                    <a:pt x="1143000" y="787400"/>
                  </a:lnTo>
                  <a:lnTo>
                    <a:pt x="1167730" y="782414"/>
                  </a:lnTo>
                  <a:lnTo>
                    <a:pt x="1187913" y="768813"/>
                  </a:lnTo>
                  <a:lnTo>
                    <a:pt x="1201514" y="748630"/>
                  </a:lnTo>
                  <a:lnTo>
                    <a:pt x="1206500" y="723900"/>
                  </a:lnTo>
                  <a:lnTo>
                    <a:pt x="1206500" y="63500"/>
                  </a:lnTo>
                  <a:lnTo>
                    <a:pt x="1201514" y="38769"/>
                  </a:lnTo>
                  <a:lnTo>
                    <a:pt x="1187913" y="18586"/>
                  </a:lnTo>
                  <a:lnTo>
                    <a:pt x="1167730" y="4985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D6E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050600" y="862799"/>
              <a:ext cx="1206500" cy="787400"/>
            </a:xfrm>
            <a:custGeom>
              <a:avLst/>
              <a:gdLst/>
              <a:ahLst/>
              <a:cxnLst/>
              <a:rect l="l" t="t" r="r" b="b"/>
              <a:pathLst>
                <a:path w="1206500" h="787400">
                  <a:moveTo>
                    <a:pt x="63500" y="787400"/>
                  </a:moveTo>
                  <a:lnTo>
                    <a:pt x="1143000" y="787400"/>
                  </a:lnTo>
                  <a:lnTo>
                    <a:pt x="1167730" y="782414"/>
                  </a:lnTo>
                  <a:lnTo>
                    <a:pt x="1187913" y="768813"/>
                  </a:lnTo>
                  <a:lnTo>
                    <a:pt x="1201514" y="748630"/>
                  </a:lnTo>
                  <a:lnTo>
                    <a:pt x="1206500" y="723900"/>
                  </a:lnTo>
                  <a:lnTo>
                    <a:pt x="1206500" y="63500"/>
                  </a:lnTo>
                  <a:lnTo>
                    <a:pt x="1201514" y="38769"/>
                  </a:lnTo>
                  <a:lnTo>
                    <a:pt x="1187913" y="18586"/>
                  </a:lnTo>
                  <a:lnTo>
                    <a:pt x="1167730" y="4985"/>
                  </a:lnTo>
                  <a:lnTo>
                    <a:pt x="11430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723900"/>
                  </a:lnTo>
                  <a:lnTo>
                    <a:pt x="4985" y="748630"/>
                  </a:lnTo>
                  <a:lnTo>
                    <a:pt x="18586" y="768813"/>
                  </a:lnTo>
                  <a:lnTo>
                    <a:pt x="38769" y="782414"/>
                  </a:lnTo>
                  <a:lnTo>
                    <a:pt x="63500" y="787400"/>
                  </a:lnTo>
                  <a:close/>
                </a:path>
              </a:pathLst>
            </a:custGeom>
            <a:ln w="12700">
              <a:solidFill>
                <a:srgbClr val="572B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4308124" y="980386"/>
            <a:ext cx="692150" cy="4502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-635">
              <a:lnSpc>
                <a:spcPct val="107200"/>
              </a:lnSpc>
              <a:spcBef>
                <a:spcPts val="95"/>
              </a:spcBef>
            </a:pPr>
            <a:r>
              <a:rPr dirty="0" sz="900" spc="-10" b="1">
                <a:solidFill>
                  <a:srgbClr val="572B82"/>
                </a:solidFill>
                <a:latin typeface="Arial"/>
                <a:cs typeface="Arial"/>
              </a:rPr>
              <a:t>Claim </a:t>
            </a:r>
            <a:r>
              <a:rPr dirty="0" sz="850" spc="-10">
                <a:solidFill>
                  <a:srgbClr val="444444"/>
                </a:solidFill>
                <a:latin typeface="Arial MT"/>
                <a:cs typeface="Arial MT"/>
              </a:rPr>
              <a:t>Segmentation (spaCy)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5248210" y="856449"/>
            <a:ext cx="1399540" cy="800100"/>
            <a:chOff x="5248210" y="856449"/>
            <a:chExt cx="1399540" cy="800100"/>
          </a:xfrm>
        </p:grpSpPr>
        <p:sp>
          <p:nvSpPr>
            <p:cNvPr id="20" name="object 20" descr=""/>
            <p:cNvSpPr/>
            <p:nvPr/>
          </p:nvSpPr>
          <p:spPr>
            <a:xfrm>
              <a:off x="5257100" y="1256499"/>
              <a:ext cx="177800" cy="0"/>
            </a:xfrm>
            <a:custGeom>
              <a:avLst/>
              <a:gdLst/>
              <a:ahLst/>
              <a:cxnLst/>
              <a:rect l="l" t="t" r="r" b="b"/>
              <a:pathLst>
                <a:path w="177800" h="0">
                  <a:moveTo>
                    <a:pt x="0" y="0"/>
                  </a:moveTo>
                  <a:lnTo>
                    <a:pt x="177800" y="0"/>
                  </a:lnTo>
                </a:path>
              </a:pathLst>
            </a:custGeom>
            <a:ln w="17780">
              <a:solidFill>
                <a:srgbClr val="572B8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5358700" y="1205699"/>
              <a:ext cx="76200" cy="101600"/>
            </a:xfrm>
            <a:custGeom>
              <a:avLst/>
              <a:gdLst/>
              <a:ahLst/>
              <a:cxnLst/>
              <a:rect l="l" t="t" r="r" b="b"/>
              <a:pathLst>
                <a:path w="76200" h="101600">
                  <a:moveTo>
                    <a:pt x="0" y="0"/>
                  </a:moveTo>
                  <a:lnTo>
                    <a:pt x="0" y="101600"/>
                  </a:lnTo>
                  <a:lnTo>
                    <a:pt x="76200" y="5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2B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5434900" y="862799"/>
              <a:ext cx="1206500" cy="787400"/>
            </a:xfrm>
            <a:custGeom>
              <a:avLst/>
              <a:gdLst/>
              <a:ahLst/>
              <a:cxnLst/>
              <a:rect l="l" t="t" r="r" b="b"/>
              <a:pathLst>
                <a:path w="1206500" h="787400">
                  <a:moveTo>
                    <a:pt x="1142999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723900"/>
                  </a:lnTo>
                  <a:lnTo>
                    <a:pt x="4985" y="748630"/>
                  </a:lnTo>
                  <a:lnTo>
                    <a:pt x="18586" y="768813"/>
                  </a:lnTo>
                  <a:lnTo>
                    <a:pt x="38769" y="782414"/>
                  </a:lnTo>
                  <a:lnTo>
                    <a:pt x="63500" y="787400"/>
                  </a:lnTo>
                  <a:lnTo>
                    <a:pt x="1142999" y="787400"/>
                  </a:lnTo>
                  <a:lnTo>
                    <a:pt x="1167730" y="782414"/>
                  </a:lnTo>
                  <a:lnTo>
                    <a:pt x="1187913" y="768813"/>
                  </a:lnTo>
                  <a:lnTo>
                    <a:pt x="1201514" y="748630"/>
                  </a:lnTo>
                  <a:lnTo>
                    <a:pt x="1206499" y="723900"/>
                  </a:lnTo>
                  <a:lnTo>
                    <a:pt x="1206499" y="63500"/>
                  </a:lnTo>
                  <a:lnTo>
                    <a:pt x="1201514" y="38769"/>
                  </a:lnTo>
                  <a:lnTo>
                    <a:pt x="1187913" y="18586"/>
                  </a:lnTo>
                  <a:lnTo>
                    <a:pt x="1167730" y="4985"/>
                  </a:lnTo>
                  <a:lnTo>
                    <a:pt x="1142999" y="0"/>
                  </a:lnTo>
                  <a:close/>
                </a:path>
              </a:pathLst>
            </a:custGeom>
            <a:solidFill>
              <a:srgbClr val="D6E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434900" y="862799"/>
              <a:ext cx="1206500" cy="787400"/>
            </a:xfrm>
            <a:custGeom>
              <a:avLst/>
              <a:gdLst/>
              <a:ahLst/>
              <a:cxnLst/>
              <a:rect l="l" t="t" r="r" b="b"/>
              <a:pathLst>
                <a:path w="1206500" h="787400">
                  <a:moveTo>
                    <a:pt x="63500" y="787400"/>
                  </a:moveTo>
                  <a:lnTo>
                    <a:pt x="1142999" y="787400"/>
                  </a:lnTo>
                  <a:lnTo>
                    <a:pt x="1167730" y="782414"/>
                  </a:lnTo>
                  <a:lnTo>
                    <a:pt x="1187913" y="768813"/>
                  </a:lnTo>
                  <a:lnTo>
                    <a:pt x="1201514" y="748630"/>
                  </a:lnTo>
                  <a:lnTo>
                    <a:pt x="1206499" y="723900"/>
                  </a:lnTo>
                  <a:lnTo>
                    <a:pt x="1206499" y="63500"/>
                  </a:lnTo>
                  <a:lnTo>
                    <a:pt x="1201514" y="38769"/>
                  </a:lnTo>
                  <a:lnTo>
                    <a:pt x="1187913" y="18586"/>
                  </a:lnTo>
                  <a:lnTo>
                    <a:pt x="1167730" y="4985"/>
                  </a:lnTo>
                  <a:lnTo>
                    <a:pt x="1142999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723900"/>
                  </a:lnTo>
                  <a:lnTo>
                    <a:pt x="4985" y="748630"/>
                  </a:lnTo>
                  <a:lnTo>
                    <a:pt x="18586" y="768813"/>
                  </a:lnTo>
                  <a:lnTo>
                    <a:pt x="38769" y="782414"/>
                  </a:lnTo>
                  <a:lnTo>
                    <a:pt x="63500" y="787400"/>
                  </a:lnTo>
                  <a:close/>
                </a:path>
              </a:pathLst>
            </a:custGeom>
            <a:ln w="12700">
              <a:solidFill>
                <a:srgbClr val="572B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5774504" y="980386"/>
            <a:ext cx="527685" cy="4502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1275" marR="5080" indent="-29209">
              <a:lnSpc>
                <a:spcPct val="107200"/>
              </a:lnSpc>
              <a:spcBef>
                <a:spcPts val="95"/>
              </a:spcBef>
            </a:pPr>
            <a:r>
              <a:rPr dirty="0" sz="900" spc="-10" b="1">
                <a:solidFill>
                  <a:srgbClr val="572B82"/>
                </a:solidFill>
                <a:latin typeface="Arial"/>
                <a:cs typeface="Arial"/>
              </a:rPr>
              <a:t>Evidence </a:t>
            </a:r>
            <a:r>
              <a:rPr dirty="0" sz="850" spc="-10">
                <a:solidFill>
                  <a:srgbClr val="444444"/>
                </a:solidFill>
                <a:latin typeface="Arial MT"/>
                <a:cs typeface="Arial MT"/>
              </a:rPr>
              <a:t>Retrieval (cos-</a:t>
            </a:r>
            <a:r>
              <a:rPr dirty="0" sz="850" spc="-20">
                <a:solidFill>
                  <a:srgbClr val="444444"/>
                </a:solidFill>
                <a:latin typeface="Arial MT"/>
                <a:cs typeface="Arial MT"/>
              </a:rPr>
              <a:t>sim)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6632509" y="856449"/>
            <a:ext cx="1399540" cy="800100"/>
            <a:chOff x="6632509" y="856449"/>
            <a:chExt cx="1399540" cy="800100"/>
          </a:xfrm>
        </p:grpSpPr>
        <p:sp>
          <p:nvSpPr>
            <p:cNvPr id="26" name="object 26" descr=""/>
            <p:cNvSpPr/>
            <p:nvPr/>
          </p:nvSpPr>
          <p:spPr>
            <a:xfrm>
              <a:off x="6641399" y="1256499"/>
              <a:ext cx="177800" cy="0"/>
            </a:xfrm>
            <a:custGeom>
              <a:avLst/>
              <a:gdLst/>
              <a:ahLst/>
              <a:cxnLst/>
              <a:rect l="l" t="t" r="r" b="b"/>
              <a:pathLst>
                <a:path w="177800" h="0">
                  <a:moveTo>
                    <a:pt x="0" y="0"/>
                  </a:moveTo>
                  <a:lnTo>
                    <a:pt x="177800" y="0"/>
                  </a:lnTo>
                </a:path>
              </a:pathLst>
            </a:custGeom>
            <a:ln w="17780">
              <a:solidFill>
                <a:srgbClr val="572B8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6742999" y="1205699"/>
              <a:ext cx="76200" cy="101600"/>
            </a:xfrm>
            <a:custGeom>
              <a:avLst/>
              <a:gdLst/>
              <a:ahLst/>
              <a:cxnLst/>
              <a:rect l="l" t="t" r="r" b="b"/>
              <a:pathLst>
                <a:path w="76200" h="101600">
                  <a:moveTo>
                    <a:pt x="0" y="0"/>
                  </a:moveTo>
                  <a:lnTo>
                    <a:pt x="0" y="101600"/>
                  </a:lnTo>
                  <a:lnTo>
                    <a:pt x="76200" y="5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2B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6819199" y="862799"/>
              <a:ext cx="1206500" cy="787400"/>
            </a:xfrm>
            <a:custGeom>
              <a:avLst/>
              <a:gdLst/>
              <a:ahLst/>
              <a:cxnLst/>
              <a:rect l="l" t="t" r="r" b="b"/>
              <a:pathLst>
                <a:path w="1206500" h="787400">
                  <a:moveTo>
                    <a:pt x="11430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723900"/>
                  </a:lnTo>
                  <a:lnTo>
                    <a:pt x="4985" y="748630"/>
                  </a:lnTo>
                  <a:lnTo>
                    <a:pt x="18586" y="768813"/>
                  </a:lnTo>
                  <a:lnTo>
                    <a:pt x="38769" y="782414"/>
                  </a:lnTo>
                  <a:lnTo>
                    <a:pt x="63500" y="787400"/>
                  </a:lnTo>
                  <a:lnTo>
                    <a:pt x="1143000" y="787400"/>
                  </a:lnTo>
                  <a:lnTo>
                    <a:pt x="1167730" y="782414"/>
                  </a:lnTo>
                  <a:lnTo>
                    <a:pt x="1187913" y="768813"/>
                  </a:lnTo>
                  <a:lnTo>
                    <a:pt x="1201514" y="748630"/>
                  </a:lnTo>
                  <a:lnTo>
                    <a:pt x="1206500" y="723900"/>
                  </a:lnTo>
                  <a:lnTo>
                    <a:pt x="1206500" y="63500"/>
                  </a:lnTo>
                  <a:lnTo>
                    <a:pt x="1201514" y="38769"/>
                  </a:lnTo>
                  <a:lnTo>
                    <a:pt x="1187913" y="18586"/>
                  </a:lnTo>
                  <a:lnTo>
                    <a:pt x="1167730" y="4985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D6E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6819199" y="862799"/>
              <a:ext cx="1206500" cy="787400"/>
            </a:xfrm>
            <a:custGeom>
              <a:avLst/>
              <a:gdLst/>
              <a:ahLst/>
              <a:cxnLst/>
              <a:rect l="l" t="t" r="r" b="b"/>
              <a:pathLst>
                <a:path w="1206500" h="787400">
                  <a:moveTo>
                    <a:pt x="63500" y="787400"/>
                  </a:moveTo>
                  <a:lnTo>
                    <a:pt x="1143000" y="787400"/>
                  </a:lnTo>
                  <a:lnTo>
                    <a:pt x="1167730" y="782414"/>
                  </a:lnTo>
                  <a:lnTo>
                    <a:pt x="1187913" y="768813"/>
                  </a:lnTo>
                  <a:lnTo>
                    <a:pt x="1201514" y="748630"/>
                  </a:lnTo>
                  <a:lnTo>
                    <a:pt x="1206500" y="723900"/>
                  </a:lnTo>
                  <a:lnTo>
                    <a:pt x="1206500" y="63500"/>
                  </a:lnTo>
                  <a:lnTo>
                    <a:pt x="1201514" y="38769"/>
                  </a:lnTo>
                  <a:lnTo>
                    <a:pt x="1187913" y="18586"/>
                  </a:lnTo>
                  <a:lnTo>
                    <a:pt x="1167730" y="4985"/>
                  </a:lnTo>
                  <a:lnTo>
                    <a:pt x="11430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723900"/>
                  </a:lnTo>
                  <a:lnTo>
                    <a:pt x="4985" y="748630"/>
                  </a:lnTo>
                  <a:lnTo>
                    <a:pt x="18586" y="768813"/>
                  </a:lnTo>
                  <a:lnTo>
                    <a:pt x="38769" y="782414"/>
                  </a:lnTo>
                  <a:lnTo>
                    <a:pt x="63500" y="787400"/>
                  </a:lnTo>
                  <a:close/>
                </a:path>
              </a:pathLst>
            </a:custGeom>
            <a:ln w="12700">
              <a:solidFill>
                <a:srgbClr val="572B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7031870" y="980386"/>
            <a:ext cx="781685" cy="45021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75"/>
              </a:spcBef>
            </a:pPr>
            <a:r>
              <a:rPr dirty="0" sz="900" spc="-25" b="1">
                <a:solidFill>
                  <a:srgbClr val="572B82"/>
                </a:solidFill>
                <a:latin typeface="Arial"/>
                <a:cs typeface="Arial"/>
              </a:rPr>
              <a:t>NLI</a:t>
            </a:r>
            <a:endParaRPr sz="900">
              <a:latin typeface="Arial"/>
              <a:cs typeface="Arial"/>
            </a:endParaRPr>
          </a:p>
          <a:p>
            <a:pPr algn="ctr" marL="12700" marR="5080">
              <a:lnSpc>
                <a:spcPts val="1100"/>
              </a:lnSpc>
              <a:spcBef>
                <a:spcPts val="40"/>
              </a:spcBef>
            </a:pPr>
            <a:r>
              <a:rPr dirty="0" sz="850" spc="-10">
                <a:solidFill>
                  <a:srgbClr val="444444"/>
                </a:solidFill>
                <a:latin typeface="Arial MT"/>
                <a:cs typeface="Arial MT"/>
              </a:rPr>
              <a:t>Classification (cross-encoder)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8025700" y="856449"/>
            <a:ext cx="1390650" cy="800100"/>
            <a:chOff x="8025700" y="856449"/>
            <a:chExt cx="1390650" cy="800100"/>
          </a:xfrm>
        </p:grpSpPr>
        <p:sp>
          <p:nvSpPr>
            <p:cNvPr id="32" name="object 32" descr=""/>
            <p:cNvSpPr/>
            <p:nvPr/>
          </p:nvSpPr>
          <p:spPr>
            <a:xfrm>
              <a:off x="8025700" y="1256499"/>
              <a:ext cx="177800" cy="0"/>
            </a:xfrm>
            <a:custGeom>
              <a:avLst/>
              <a:gdLst/>
              <a:ahLst/>
              <a:cxnLst/>
              <a:rect l="l" t="t" r="r" b="b"/>
              <a:pathLst>
                <a:path w="177800" h="0">
                  <a:moveTo>
                    <a:pt x="0" y="0"/>
                  </a:moveTo>
                  <a:lnTo>
                    <a:pt x="177800" y="0"/>
                  </a:lnTo>
                </a:path>
              </a:pathLst>
            </a:custGeom>
            <a:ln w="17780">
              <a:solidFill>
                <a:srgbClr val="572B8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8127300" y="1205699"/>
              <a:ext cx="76200" cy="101600"/>
            </a:xfrm>
            <a:custGeom>
              <a:avLst/>
              <a:gdLst/>
              <a:ahLst/>
              <a:cxnLst/>
              <a:rect l="l" t="t" r="r" b="b"/>
              <a:pathLst>
                <a:path w="76200" h="101600">
                  <a:moveTo>
                    <a:pt x="0" y="0"/>
                  </a:moveTo>
                  <a:lnTo>
                    <a:pt x="0" y="101600"/>
                  </a:lnTo>
                  <a:lnTo>
                    <a:pt x="76200" y="5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2B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8203500" y="862799"/>
              <a:ext cx="1206500" cy="787400"/>
            </a:xfrm>
            <a:custGeom>
              <a:avLst/>
              <a:gdLst/>
              <a:ahLst/>
              <a:cxnLst/>
              <a:rect l="l" t="t" r="r" b="b"/>
              <a:pathLst>
                <a:path w="1206500" h="787400">
                  <a:moveTo>
                    <a:pt x="11430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723900"/>
                  </a:lnTo>
                  <a:lnTo>
                    <a:pt x="4985" y="748630"/>
                  </a:lnTo>
                  <a:lnTo>
                    <a:pt x="18586" y="768813"/>
                  </a:lnTo>
                  <a:lnTo>
                    <a:pt x="38769" y="782414"/>
                  </a:lnTo>
                  <a:lnTo>
                    <a:pt x="63500" y="787400"/>
                  </a:lnTo>
                  <a:lnTo>
                    <a:pt x="1143000" y="787400"/>
                  </a:lnTo>
                  <a:lnTo>
                    <a:pt x="1167730" y="782414"/>
                  </a:lnTo>
                  <a:lnTo>
                    <a:pt x="1187913" y="768813"/>
                  </a:lnTo>
                  <a:lnTo>
                    <a:pt x="1201514" y="748630"/>
                  </a:lnTo>
                  <a:lnTo>
                    <a:pt x="1206500" y="723900"/>
                  </a:lnTo>
                  <a:lnTo>
                    <a:pt x="1206500" y="63500"/>
                  </a:lnTo>
                  <a:lnTo>
                    <a:pt x="1201514" y="38769"/>
                  </a:lnTo>
                  <a:lnTo>
                    <a:pt x="1187913" y="18586"/>
                  </a:lnTo>
                  <a:lnTo>
                    <a:pt x="1167730" y="4985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D4ED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8203500" y="862799"/>
              <a:ext cx="1206500" cy="787400"/>
            </a:xfrm>
            <a:custGeom>
              <a:avLst/>
              <a:gdLst/>
              <a:ahLst/>
              <a:cxnLst/>
              <a:rect l="l" t="t" r="r" b="b"/>
              <a:pathLst>
                <a:path w="1206500" h="787400">
                  <a:moveTo>
                    <a:pt x="63500" y="787400"/>
                  </a:moveTo>
                  <a:lnTo>
                    <a:pt x="1143000" y="787400"/>
                  </a:lnTo>
                  <a:lnTo>
                    <a:pt x="1167730" y="782414"/>
                  </a:lnTo>
                  <a:lnTo>
                    <a:pt x="1187913" y="768813"/>
                  </a:lnTo>
                  <a:lnTo>
                    <a:pt x="1201514" y="748630"/>
                  </a:lnTo>
                  <a:lnTo>
                    <a:pt x="1206500" y="723900"/>
                  </a:lnTo>
                  <a:lnTo>
                    <a:pt x="1206500" y="63500"/>
                  </a:lnTo>
                  <a:lnTo>
                    <a:pt x="1201514" y="38769"/>
                  </a:lnTo>
                  <a:lnTo>
                    <a:pt x="1187913" y="18586"/>
                  </a:lnTo>
                  <a:lnTo>
                    <a:pt x="1167730" y="4985"/>
                  </a:lnTo>
                  <a:lnTo>
                    <a:pt x="11430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723900"/>
                  </a:lnTo>
                  <a:lnTo>
                    <a:pt x="4985" y="748630"/>
                  </a:lnTo>
                  <a:lnTo>
                    <a:pt x="18586" y="768813"/>
                  </a:lnTo>
                  <a:lnTo>
                    <a:pt x="38769" y="782414"/>
                  </a:lnTo>
                  <a:lnTo>
                    <a:pt x="63500" y="787400"/>
                  </a:lnTo>
                  <a:close/>
                </a:path>
              </a:pathLst>
            </a:custGeom>
            <a:ln w="12700">
              <a:solidFill>
                <a:srgbClr val="572B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8560175" y="1050236"/>
            <a:ext cx="493395" cy="31051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46355">
              <a:lnSpc>
                <a:spcPct val="100000"/>
              </a:lnSpc>
              <a:spcBef>
                <a:spcPts val="175"/>
              </a:spcBef>
            </a:pPr>
            <a:r>
              <a:rPr dirty="0" sz="900" spc="-10" b="1">
                <a:solidFill>
                  <a:srgbClr val="572B82"/>
                </a:solidFill>
                <a:latin typeface="Arial"/>
                <a:cs typeface="Arial"/>
              </a:rPr>
              <a:t>Metrics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850">
                <a:solidFill>
                  <a:srgbClr val="444444"/>
                </a:solidFill>
                <a:latin typeface="Arial MT"/>
                <a:cs typeface="Arial MT"/>
              </a:rPr>
              <a:t>UFR</a:t>
            </a:r>
            <a:r>
              <a:rPr dirty="0" sz="850" spc="-1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444444"/>
                </a:solidFill>
                <a:latin typeface="Arial MT"/>
                <a:cs typeface="Arial MT"/>
              </a:rPr>
              <a:t>/</a:t>
            </a:r>
            <a:r>
              <a:rPr dirty="0" sz="850" spc="-1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444444"/>
                </a:solidFill>
                <a:latin typeface="Arial MT"/>
                <a:cs typeface="Arial MT"/>
              </a:rPr>
              <a:t>CR</a:t>
            </a:r>
            <a:endParaRPr sz="850">
              <a:latin typeface="Arial MT"/>
              <a:cs typeface="Arial MT"/>
            </a:endParaRPr>
          </a:p>
        </p:txBody>
      </p:sp>
      <p:pic>
        <p:nvPicPr>
          <p:cNvPr id="37" name="object 3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2000" y="1904199"/>
            <a:ext cx="254000" cy="254000"/>
          </a:xfrm>
          <a:prstGeom prst="rect">
            <a:avLst/>
          </a:prstGeom>
        </p:spPr>
      </p:pic>
      <p:sp>
        <p:nvSpPr>
          <p:cNvPr id="38" name="object 38" descr=""/>
          <p:cNvSpPr txBox="1"/>
          <p:nvPr/>
        </p:nvSpPr>
        <p:spPr>
          <a:xfrm>
            <a:off x="1316799" y="1878799"/>
            <a:ext cx="2038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 b="1">
                <a:solidFill>
                  <a:srgbClr val="444444"/>
                </a:solidFill>
                <a:latin typeface="Arial"/>
                <a:cs typeface="Arial"/>
              </a:rPr>
              <a:t>E0:</a:t>
            </a:r>
            <a:endParaRPr sz="900">
              <a:latin typeface="Arial"/>
              <a:cs typeface="Arial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1710499" y="1824189"/>
            <a:ext cx="637540" cy="304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800"/>
              </a:lnSpc>
              <a:spcBef>
                <a:spcPts val="100"/>
              </a:spcBef>
            </a:pPr>
            <a:r>
              <a:rPr dirty="0" sz="850" spc="-10">
                <a:solidFill>
                  <a:srgbClr val="444444"/>
                </a:solidFill>
                <a:latin typeface="Arial MT"/>
                <a:cs typeface="Arial MT"/>
              </a:rPr>
              <a:t>GPT-4o-</a:t>
            </a:r>
            <a:r>
              <a:rPr dirty="0" sz="850" spc="-20">
                <a:solidFill>
                  <a:srgbClr val="444444"/>
                </a:solidFill>
                <a:latin typeface="Arial MT"/>
                <a:cs typeface="Arial MT"/>
              </a:rPr>
              <a:t>mini </a:t>
            </a:r>
            <a:r>
              <a:rPr dirty="0" sz="850">
                <a:solidFill>
                  <a:srgbClr val="444444"/>
                </a:solidFill>
                <a:latin typeface="Arial MT"/>
                <a:cs typeface="Arial MT"/>
              </a:rPr>
              <a:t>(no</a:t>
            </a:r>
            <a:r>
              <a:rPr dirty="0" sz="850" spc="-1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444444"/>
                </a:solidFill>
                <a:latin typeface="Arial MT"/>
                <a:cs typeface="Arial MT"/>
              </a:rPr>
              <a:t>retrieval)</a:t>
            </a:r>
            <a:endParaRPr sz="850">
              <a:latin typeface="Arial MT"/>
              <a:cs typeface="Arial MT"/>
            </a:endParaRPr>
          </a:p>
        </p:txBody>
      </p:sp>
      <p:pic>
        <p:nvPicPr>
          <p:cNvPr id="40" name="object 4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24999" y="1904199"/>
            <a:ext cx="254000" cy="254000"/>
          </a:xfrm>
          <a:prstGeom prst="rect">
            <a:avLst/>
          </a:prstGeom>
        </p:spPr>
      </p:pic>
      <p:sp>
        <p:nvSpPr>
          <p:cNvPr id="41" name="object 41" descr=""/>
          <p:cNvSpPr txBox="1"/>
          <p:nvPr/>
        </p:nvSpPr>
        <p:spPr>
          <a:xfrm>
            <a:off x="3729799" y="1878799"/>
            <a:ext cx="2038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 b="1">
                <a:solidFill>
                  <a:srgbClr val="444444"/>
                </a:solidFill>
                <a:latin typeface="Arial"/>
                <a:cs typeface="Arial"/>
              </a:rPr>
              <a:t>E1:</a:t>
            </a:r>
            <a:endParaRPr sz="900">
              <a:latin typeface="Arial"/>
              <a:cs typeface="Arial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4123499" y="1824189"/>
            <a:ext cx="724535" cy="30480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850" spc="-10">
                <a:solidFill>
                  <a:srgbClr val="444444"/>
                </a:solidFill>
                <a:latin typeface="Arial MT"/>
                <a:cs typeface="Arial MT"/>
              </a:rPr>
              <a:t>GPT-4o-</a:t>
            </a:r>
            <a:r>
              <a:rPr dirty="0" sz="850" spc="-20">
                <a:solidFill>
                  <a:srgbClr val="444444"/>
                </a:solidFill>
                <a:latin typeface="Arial MT"/>
                <a:cs typeface="Arial MT"/>
              </a:rPr>
              <a:t>mini</a:t>
            </a:r>
            <a:endParaRPr sz="8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850">
                <a:solidFill>
                  <a:srgbClr val="444444"/>
                </a:solidFill>
                <a:latin typeface="Arial MT"/>
                <a:cs typeface="Arial MT"/>
              </a:rPr>
              <a:t>+</a:t>
            </a:r>
            <a:r>
              <a:rPr dirty="0" sz="85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444444"/>
                </a:solidFill>
                <a:latin typeface="Arial MT"/>
                <a:cs typeface="Arial MT"/>
              </a:rPr>
              <a:t>RAG </a:t>
            </a:r>
            <a:r>
              <a:rPr dirty="0" sz="850" spc="-10">
                <a:solidFill>
                  <a:srgbClr val="444444"/>
                </a:solidFill>
                <a:latin typeface="Arial MT"/>
                <a:cs typeface="Arial MT"/>
              </a:rPr>
              <a:t>chunks</a:t>
            </a:r>
            <a:endParaRPr sz="850">
              <a:latin typeface="Arial MT"/>
              <a:cs typeface="Arial MT"/>
            </a:endParaRPr>
          </a:p>
        </p:txBody>
      </p:sp>
      <p:pic>
        <p:nvPicPr>
          <p:cNvPr id="43" name="object 4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37999" y="1904199"/>
            <a:ext cx="254000" cy="254000"/>
          </a:xfrm>
          <a:prstGeom prst="rect">
            <a:avLst/>
          </a:prstGeom>
        </p:spPr>
      </p:pic>
      <p:sp>
        <p:nvSpPr>
          <p:cNvPr id="44" name="object 44" descr=""/>
          <p:cNvSpPr txBox="1"/>
          <p:nvPr/>
        </p:nvSpPr>
        <p:spPr>
          <a:xfrm>
            <a:off x="6142799" y="1878799"/>
            <a:ext cx="2038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 b="1">
                <a:solidFill>
                  <a:srgbClr val="444444"/>
                </a:solidFill>
                <a:latin typeface="Arial"/>
                <a:cs typeface="Arial"/>
              </a:rPr>
              <a:t>E2:</a:t>
            </a:r>
            <a:endParaRPr sz="900">
              <a:latin typeface="Arial"/>
              <a:cs typeface="Arial"/>
            </a:endParaRPr>
          </a:p>
        </p:txBody>
      </p:sp>
      <p:sp>
        <p:nvSpPr>
          <p:cNvPr id="47" name="object 4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Hallucination Evaluation in LLM-Based Medical Summarization</a:t>
            </a:r>
            <a:r>
              <a:rPr dirty="0" spc="204"/>
              <a:t> </a:t>
            </a:r>
            <a:r>
              <a:rPr dirty="0"/>
              <a:t>·</a:t>
            </a:r>
            <a:r>
              <a:rPr dirty="0" spc="200"/>
              <a:t> </a:t>
            </a:r>
            <a:r>
              <a:rPr dirty="0"/>
              <a:t>CSUN Comp</a:t>
            </a:r>
            <a:r>
              <a:rPr dirty="0" spc="5"/>
              <a:t> </a:t>
            </a:r>
            <a:r>
              <a:rPr dirty="0"/>
              <a:t>696C</a:t>
            </a:r>
            <a:r>
              <a:rPr dirty="0" spc="200"/>
              <a:t> </a:t>
            </a:r>
            <a:r>
              <a:rPr dirty="0"/>
              <a:t>·</a:t>
            </a:r>
            <a:r>
              <a:rPr dirty="0" spc="200"/>
              <a:t> </a:t>
            </a:r>
            <a:r>
              <a:rPr dirty="0"/>
              <a:t>April</a:t>
            </a:r>
            <a:r>
              <a:rPr dirty="0" spc="5"/>
              <a:t> </a:t>
            </a:r>
            <a:r>
              <a:rPr dirty="0" spc="-20"/>
              <a:t>2026</a:t>
            </a:r>
          </a:p>
        </p:txBody>
      </p:sp>
      <p:sp>
        <p:nvSpPr>
          <p:cNvPr id="48" name="object 4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/>
              <a:t>10</a:t>
            </a:fld>
            <a:r>
              <a:rPr dirty="0" spc="-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 spc="-25"/>
              <a:t>10</a:t>
            </a:r>
          </a:p>
        </p:txBody>
      </p:sp>
      <p:sp>
        <p:nvSpPr>
          <p:cNvPr id="45" name="object 45" descr=""/>
          <p:cNvSpPr txBox="1"/>
          <p:nvPr/>
        </p:nvSpPr>
        <p:spPr>
          <a:xfrm>
            <a:off x="6536499" y="1824189"/>
            <a:ext cx="931544" cy="304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800"/>
              </a:lnSpc>
              <a:spcBef>
                <a:spcPts val="100"/>
              </a:spcBef>
            </a:pPr>
            <a:r>
              <a:rPr dirty="0" sz="850">
                <a:solidFill>
                  <a:srgbClr val="444444"/>
                </a:solidFill>
                <a:latin typeface="Arial MT"/>
                <a:cs typeface="Arial MT"/>
              </a:rPr>
              <a:t>Centroid</a:t>
            </a:r>
            <a:r>
              <a:rPr dirty="0" sz="850" spc="-3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444444"/>
                </a:solidFill>
                <a:latin typeface="Arial MT"/>
                <a:cs typeface="Arial MT"/>
              </a:rPr>
              <a:t>extraction </a:t>
            </a:r>
            <a:r>
              <a:rPr dirty="0" sz="850">
                <a:solidFill>
                  <a:srgbClr val="444444"/>
                </a:solidFill>
                <a:latin typeface="Arial MT"/>
                <a:cs typeface="Arial MT"/>
              </a:rPr>
              <a:t>(no</a:t>
            </a:r>
            <a:r>
              <a:rPr dirty="0" sz="850" spc="-1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solidFill>
                  <a:srgbClr val="444444"/>
                </a:solidFill>
                <a:latin typeface="Arial MT"/>
                <a:cs typeface="Arial MT"/>
              </a:rPr>
              <a:t>LLM)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491300" y="2259799"/>
            <a:ext cx="3410585" cy="746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100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NLI</a:t>
            </a:r>
            <a:r>
              <a:rPr dirty="0" u="heavy" sz="1100" spc="-5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100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Output</a:t>
            </a:r>
            <a:r>
              <a:rPr dirty="0" u="heavy" sz="1100" spc="-5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100" spc="-10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Labels</a:t>
            </a:r>
            <a:endParaRPr sz="1100">
              <a:latin typeface="Arial"/>
              <a:cs typeface="Arial"/>
            </a:endParaRPr>
          </a:p>
          <a:p>
            <a:pPr marL="190500">
              <a:lnSpc>
                <a:spcPct val="100000"/>
              </a:lnSpc>
              <a:spcBef>
                <a:spcPts val="680"/>
              </a:spcBef>
            </a:pPr>
            <a:r>
              <a:rPr dirty="0" sz="900" b="1">
                <a:solidFill>
                  <a:srgbClr val="2A8C49"/>
                </a:solidFill>
                <a:latin typeface="Arial"/>
                <a:cs typeface="Arial"/>
              </a:rPr>
              <a:t>Supported:</a:t>
            </a:r>
            <a:r>
              <a:rPr dirty="0" sz="900" spc="235" b="1">
                <a:solidFill>
                  <a:srgbClr val="2A8C49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claim</a:t>
            </a:r>
            <a:r>
              <a:rPr dirty="0" sz="900" spc="-1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entailed</a:t>
            </a:r>
            <a:r>
              <a:rPr dirty="0" sz="9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by</a:t>
            </a:r>
            <a:r>
              <a:rPr dirty="0" sz="900" spc="-1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evidence</a:t>
            </a:r>
            <a:r>
              <a:rPr dirty="0" sz="9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(p_entail</a:t>
            </a:r>
            <a:r>
              <a:rPr dirty="0" sz="900" spc="-1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44444"/>
                </a:solidFill>
                <a:latin typeface="Symbol"/>
                <a:cs typeface="Symbol"/>
              </a:rPr>
              <a:t></a:t>
            </a:r>
            <a:r>
              <a:rPr dirty="0" sz="900" spc="2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dirty="0" sz="900" spc="-20">
                <a:solidFill>
                  <a:srgbClr val="444444"/>
                </a:solidFill>
                <a:latin typeface="Arial MT"/>
                <a:cs typeface="Arial MT"/>
              </a:rPr>
              <a:t>0.5)</a:t>
            </a:r>
            <a:endParaRPr sz="900">
              <a:latin typeface="Arial MT"/>
              <a:cs typeface="Arial MT"/>
            </a:endParaRPr>
          </a:p>
          <a:p>
            <a:pPr marL="190500">
              <a:lnSpc>
                <a:spcPct val="100000"/>
              </a:lnSpc>
              <a:spcBef>
                <a:spcPts val="219"/>
              </a:spcBef>
            </a:pPr>
            <a:r>
              <a:rPr dirty="0" sz="900" spc="-10" b="1">
                <a:solidFill>
                  <a:srgbClr val="DF7B54"/>
                </a:solidFill>
                <a:latin typeface="Arial"/>
                <a:cs typeface="Arial"/>
              </a:rPr>
              <a:t>Not-</a:t>
            </a:r>
            <a:r>
              <a:rPr dirty="0" sz="900" b="1">
                <a:solidFill>
                  <a:srgbClr val="DF7B54"/>
                </a:solidFill>
                <a:latin typeface="Arial"/>
                <a:cs typeface="Arial"/>
              </a:rPr>
              <a:t>Supported:</a:t>
            </a:r>
            <a:r>
              <a:rPr dirty="0" sz="900" spc="240" b="1">
                <a:solidFill>
                  <a:srgbClr val="DF7B54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claim</a:t>
            </a:r>
            <a:r>
              <a:rPr dirty="0" sz="9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not</a:t>
            </a:r>
            <a:r>
              <a:rPr dirty="0" sz="9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entailed</a:t>
            </a:r>
            <a:r>
              <a:rPr dirty="0" sz="9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or</a:t>
            </a:r>
            <a:r>
              <a:rPr dirty="0" sz="9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444444"/>
                </a:solidFill>
                <a:latin typeface="Arial MT"/>
                <a:cs typeface="Arial MT"/>
              </a:rPr>
              <a:t>contradicted</a:t>
            </a:r>
            <a:endParaRPr sz="900">
              <a:latin typeface="Arial MT"/>
              <a:cs typeface="Arial MT"/>
            </a:endParaRPr>
          </a:p>
          <a:p>
            <a:pPr marL="190500">
              <a:lnSpc>
                <a:spcPct val="100000"/>
              </a:lnSpc>
              <a:spcBef>
                <a:spcPts val="219"/>
              </a:spcBef>
            </a:pPr>
            <a:r>
              <a:rPr dirty="0" sz="900" b="1">
                <a:solidFill>
                  <a:srgbClr val="CC0000"/>
                </a:solidFill>
                <a:latin typeface="Arial"/>
                <a:cs typeface="Arial"/>
              </a:rPr>
              <a:t>Contradicted:</a:t>
            </a:r>
            <a:r>
              <a:rPr dirty="0" sz="900" spc="245" b="1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claim contradicted by</a:t>
            </a:r>
            <a:r>
              <a:rPr dirty="0" sz="9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evidence (p_contra </a:t>
            </a:r>
            <a:r>
              <a:rPr dirty="0" sz="900">
                <a:solidFill>
                  <a:srgbClr val="444444"/>
                </a:solidFill>
                <a:latin typeface="Symbol"/>
                <a:cs typeface="Symbol"/>
              </a:rPr>
              <a:t></a:t>
            </a:r>
            <a:r>
              <a:rPr dirty="0" sz="900" spc="25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dirty="0" sz="900" spc="-20">
                <a:solidFill>
                  <a:srgbClr val="444444"/>
                </a:solidFill>
                <a:latin typeface="Arial MT"/>
                <a:cs typeface="Arial MT"/>
              </a:rPr>
              <a:t>0.5)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978273" y="126599"/>
            <a:ext cx="273558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Dataset</a:t>
            </a:r>
            <a:r>
              <a:rPr dirty="0" sz="15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15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Experimental</a:t>
            </a:r>
            <a:r>
              <a:rPr dirty="0" sz="15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Setup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Hallucination Evaluation in LLM-Based Medical Summarization</a:t>
            </a:r>
            <a:r>
              <a:rPr dirty="0" spc="204"/>
              <a:t> </a:t>
            </a:r>
            <a:r>
              <a:rPr dirty="0"/>
              <a:t>·</a:t>
            </a:r>
            <a:r>
              <a:rPr dirty="0" spc="200"/>
              <a:t> </a:t>
            </a:r>
            <a:r>
              <a:rPr dirty="0"/>
              <a:t>CSUN Comp</a:t>
            </a:r>
            <a:r>
              <a:rPr dirty="0" spc="5"/>
              <a:t> </a:t>
            </a:r>
            <a:r>
              <a:rPr dirty="0"/>
              <a:t>696C</a:t>
            </a:r>
            <a:r>
              <a:rPr dirty="0" spc="200"/>
              <a:t> </a:t>
            </a:r>
            <a:r>
              <a:rPr dirty="0"/>
              <a:t>·</a:t>
            </a:r>
            <a:r>
              <a:rPr dirty="0" spc="200"/>
              <a:t> </a:t>
            </a:r>
            <a:r>
              <a:rPr dirty="0"/>
              <a:t>April</a:t>
            </a:r>
            <a:r>
              <a:rPr dirty="0" spc="5"/>
              <a:t> </a:t>
            </a:r>
            <a:r>
              <a:rPr dirty="0" spc="-20"/>
              <a:t>2026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/>
              <a:t>10</a:t>
            </a:fld>
            <a:r>
              <a:rPr dirty="0" spc="-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 spc="-25"/>
              <a:t>10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91300" y="634199"/>
            <a:ext cx="15240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100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Dataset</a:t>
            </a:r>
            <a:r>
              <a:rPr dirty="0" u="heavy" sz="1100" spc="-20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100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—</a:t>
            </a:r>
            <a:r>
              <a:rPr dirty="0" u="heavy" sz="1100" spc="-15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100" spc="-10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MTSamples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91300" y="872958"/>
            <a:ext cx="2671445" cy="73660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189865" algn="l"/>
              </a:tabLst>
            </a:pP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Public de-identified clinical </a:t>
            </a:r>
            <a:r>
              <a:rPr dirty="0" sz="900" spc="-10">
                <a:solidFill>
                  <a:srgbClr val="444444"/>
                </a:solidFill>
                <a:latin typeface="Arial MT"/>
                <a:cs typeface="Arial MT"/>
              </a:rPr>
              <a:t>transcriptions</a:t>
            </a:r>
            <a:endParaRPr sz="900">
              <a:latin typeface="Arial MT"/>
              <a:cs typeface="Arial MT"/>
            </a:endParaRPr>
          </a:p>
          <a:p>
            <a:pPr marL="189865" indent="-177165">
              <a:lnSpc>
                <a:spcPct val="100000"/>
              </a:lnSpc>
              <a:spcBef>
                <a:spcPts val="320"/>
              </a:spcBef>
              <a:buFont typeface="Arial"/>
              <a:buChar char="•"/>
              <a:tabLst>
                <a:tab pos="189865" algn="l"/>
              </a:tabLst>
            </a:pP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Specialties: Discharge Summary + </a:t>
            </a:r>
            <a:r>
              <a:rPr dirty="0" sz="900" spc="-10">
                <a:solidFill>
                  <a:srgbClr val="444444"/>
                </a:solidFill>
                <a:latin typeface="Arial MT"/>
                <a:cs typeface="Arial MT"/>
              </a:rPr>
              <a:t>Consult–H&amp;P</a:t>
            </a:r>
            <a:endParaRPr sz="900">
              <a:latin typeface="Arial MT"/>
              <a:cs typeface="Arial MT"/>
            </a:endParaRPr>
          </a:p>
          <a:p>
            <a:pPr marL="189865" indent="-177165">
              <a:lnSpc>
                <a:spcPct val="100000"/>
              </a:lnSpc>
              <a:spcBef>
                <a:spcPts val="320"/>
              </a:spcBef>
              <a:buFont typeface="Arial"/>
              <a:buChar char="•"/>
              <a:tabLst>
                <a:tab pos="189865" algn="l"/>
              </a:tabLst>
            </a:pP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50 samples, random seed = 42 </a:t>
            </a:r>
            <a:r>
              <a:rPr dirty="0" sz="900" spc="-10">
                <a:solidFill>
                  <a:srgbClr val="444444"/>
                </a:solidFill>
                <a:latin typeface="Arial MT"/>
                <a:cs typeface="Arial MT"/>
              </a:rPr>
              <a:t>(reproducible)</a:t>
            </a:r>
            <a:endParaRPr sz="900">
              <a:latin typeface="Arial MT"/>
              <a:cs typeface="Arial MT"/>
            </a:endParaRPr>
          </a:p>
          <a:p>
            <a:pPr marL="189865" indent="-177165">
              <a:lnSpc>
                <a:spcPct val="100000"/>
              </a:lnSpc>
              <a:spcBef>
                <a:spcPts val="320"/>
              </a:spcBef>
              <a:buFont typeface="Arial"/>
              <a:buChar char="•"/>
              <a:tabLst>
                <a:tab pos="189865" algn="l"/>
              </a:tabLst>
            </a:pP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Source docs: median ~300 words </a:t>
            </a:r>
            <a:r>
              <a:rPr dirty="0" sz="900" spc="-20">
                <a:solidFill>
                  <a:srgbClr val="444444"/>
                </a:solidFill>
                <a:latin typeface="Arial MT"/>
                <a:cs typeface="Arial MT"/>
              </a:rPr>
              <a:t>each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91300" y="1700999"/>
            <a:ext cx="5067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100" spc="-10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Models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91300" y="1939759"/>
            <a:ext cx="2770505" cy="73660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189865" algn="l"/>
              </a:tabLst>
            </a:pP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LLM: GPT-4o-mini (OpenAI), T=0.3, max 450 </a:t>
            </a:r>
            <a:r>
              <a:rPr dirty="0" sz="900" spc="-25">
                <a:solidFill>
                  <a:srgbClr val="444444"/>
                </a:solidFill>
                <a:latin typeface="Arial MT"/>
                <a:cs typeface="Arial MT"/>
              </a:rPr>
              <a:t>tok</a:t>
            </a:r>
            <a:endParaRPr sz="900">
              <a:latin typeface="Arial MT"/>
              <a:cs typeface="Arial MT"/>
            </a:endParaRPr>
          </a:p>
          <a:p>
            <a:pPr marL="189865" indent="-177165">
              <a:lnSpc>
                <a:spcPct val="100000"/>
              </a:lnSpc>
              <a:spcBef>
                <a:spcPts val="320"/>
              </a:spcBef>
              <a:buFont typeface="Arial"/>
              <a:buChar char="•"/>
              <a:tabLst>
                <a:tab pos="189865" algn="l"/>
              </a:tabLst>
            </a:pP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Bi-encoder: all-MiniLM-L6-v2 (retrieval + </a:t>
            </a:r>
            <a:r>
              <a:rPr dirty="0" sz="900" spc="-10">
                <a:solidFill>
                  <a:srgbClr val="444444"/>
                </a:solidFill>
                <a:latin typeface="Arial MT"/>
                <a:cs typeface="Arial MT"/>
              </a:rPr>
              <a:t>embed)</a:t>
            </a:r>
            <a:endParaRPr sz="900">
              <a:latin typeface="Arial MT"/>
              <a:cs typeface="Arial MT"/>
            </a:endParaRPr>
          </a:p>
          <a:p>
            <a:pPr marL="189865" indent="-177165">
              <a:lnSpc>
                <a:spcPct val="100000"/>
              </a:lnSpc>
              <a:spcBef>
                <a:spcPts val="320"/>
              </a:spcBef>
              <a:buFont typeface="Arial"/>
              <a:buChar char="•"/>
              <a:tabLst>
                <a:tab pos="189865" algn="l"/>
              </a:tabLst>
            </a:pP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Cross-encoder: nli-MiniLM2-L6-H768 (NLI </a:t>
            </a:r>
            <a:r>
              <a:rPr dirty="0" sz="900" spc="-10">
                <a:solidFill>
                  <a:srgbClr val="444444"/>
                </a:solidFill>
                <a:latin typeface="Arial MT"/>
                <a:cs typeface="Arial MT"/>
              </a:rPr>
              <a:t>labels)</a:t>
            </a:r>
            <a:endParaRPr sz="900">
              <a:latin typeface="Arial MT"/>
              <a:cs typeface="Arial MT"/>
            </a:endParaRPr>
          </a:p>
          <a:p>
            <a:pPr marL="189865" indent="-177165">
              <a:lnSpc>
                <a:spcPct val="100000"/>
              </a:lnSpc>
              <a:spcBef>
                <a:spcPts val="320"/>
              </a:spcBef>
              <a:buFont typeface="Arial"/>
              <a:buChar char="•"/>
              <a:tabLst>
                <a:tab pos="189865" algn="l"/>
              </a:tabLst>
            </a:pP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SpaCy en_core_web_sm (sentence </a:t>
            </a:r>
            <a:r>
              <a:rPr dirty="0" sz="900" spc="-10">
                <a:solidFill>
                  <a:srgbClr val="444444"/>
                </a:solidFill>
                <a:latin typeface="Arial MT"/>
                <a:cs typeface="Arial MT"/>
              </a:rPr>
              <a:t>segmentation)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460300" y="634199"/>
            <a:ext cx="167132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100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Experimental </a:t>
            </a:r>
            <a:r>
              <a:rPr dirty="0" u="heavy" sz="1100" spc="-10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Conditions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460300" y="847558"/>
            <a:ext cx="3036570" cy="635000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620"/>
              </a:spcBef>
              <a:buChar char="•"/>
              <a:tabLst>
                <a:tab pos="189865" algn="l"/>
              </a:tabLst>
            </a:pPr>
            <a:r>
              <a:rPr dirty="0" sz="900" b="1">
                <a:solidFill>
                  <a:srgbClr val="444444"/>
                </a:solidFill>
                <a:latin typeface="Arial"/>
                <a:cs typeface="Arial"/>
              </a:rPr>
              <a:t>E0 — Baseline </a:t>
            </a: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GPT-4o-mini given full note, no </a:t>
            </a:r>
            <a:r>
              <a:rPr dirty="0" sz="900" spc="-10">
                <a:solidFill>
                  <a:srgbClr val="444444"/>
                </a:solidFill>
                <a:latin typeface="Arial MT"/>
                <a:cs typeface="Arial MT"/>
              </a:rPr>
              <a:t>retrieval</a:t>
            </a:r>
            <a:endParaRPr sz="900">
              <a:latin typeface="Arial MT"/>
              <a:cs typeface="Arial MT"/>
            </a:endParaRPr>
          </a:p>
          <a:p>
            <a:pPr marL="189865" indent="-177165">
              <a:lnSpc>
                <a:spcPct val="100000"/>
              </a:lnSpc>
              <a:spcBef>
                <a:spcPts val="520"/>
              </a:spcBef>
              <a:buChar char="•"/>
              <a:tabLst>
                <a:tab pos="189865" algn="l"/>
              </a:tabLst>
            </a:pPr>
            <a:r>
              <a:rPr dirty="0" sz="900" b="1">
                <a:solidFill>
                  <a:srgbClr val="444444"/>
                </a:solidFill>
                <a:latin typeface="Arial"/>
                <a:cs typeface="Arial"/>
              </a:rPr>
              <a:t>E1 — RAG </a:t>
            </a: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Top-3 retrieved chunks fed to GPT-4o-</a:t>
            </a:r>
            <a:r>
              <a:rPr dirty="0" sz="900" spc="-20">
                <a:solidFill>
                  <a:srgbClr val="444444"/>
                </a:solidFill>
                <a:latin typeface="Arial MT"/>
                <a:cs typeface="Arial MT"/>
              </a:rPr>
              <a:t>mini</a:t>
            </a:r>
            <a:endParaRPr sz="900">
              <a:latin typeface="Arial MT"/>
              <a:cs typeface="Arial MT"/>
            </a:endParaRPr>
          </a:p>
          <a:p>
            <a:pPr marL="189865" indent="-177165">
              <a:lnSpc>
                <a:spcPct val="100000"/>
              </a:lnSpc>
              <a:spcBef>
                <a:spcPts val="520"/>
              </a:spcBef>
              <a:buChar char="•"/>
              <a:tabLst>
                <a:tab pos="189865" algn="l"/>
              </a:tabLst>
            </a:pPr>
            <a:r>
              <a:rPr dirty="0" sz="900" b="1">
                <a:solidFill>
                  <a:srgbClr val="444444"/>
                </a:solidFill>
                <a:latin typeface="Arial"/>
                <a:cs typeface="Arial"/>
              </a:rPr>
              <a:t>E2 — Extractive</a:t>
            </a:r>
            <a:r>
              <a:rPr dirty="0" sz="900" spc="-5" b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Top-5 centroid sentences, no </a:t>
            </a:r>
            <a:r>
              <a:rPr dirty="0" sz="900" spc="-25">
                <a:solidFill>
                  <a:srgbClr val="444444"/>
                </a:solidFill>
                <a:latin typeface="Arial MT"/>
                <a:cs typeface="Arial MT"/>
              </a:rPr>
              <a:t>LLM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460300" y="1599399"/>
            <a:ext cx="514984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100" spc="-10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Metrics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460300" y="1838159"/>
            <a:ext cx="2903220" cy="55880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189865" algn="l"/>
              </a:tabLst>
            </a:pP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UFR</a:t>
            </a:r>
            <a:r>
              <a:rPr dirty="0" sz="9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=</a:t>
            </a:r>
            <a:r>
              <a:rPr dirty="0" sz="9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(Contradicted +</a:t>
            </a:r>
            <a:r>
              <a:rPr dirty="0" sz="9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Not-Supported)</a:t>
            </a:r>
            <a:r>
              <a:rPr dirty="0" sz="9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/ </a:t>
            </a:r>
            <a:r>
              <a:rPr dirty="0" sz="900" spc="-10">
                <a:solidFill>
                  <a:srgbClr val="444444"/>
                </a:solidFill>
                <a:latin typeface="Arial MT"/>
                <a:cs typeface="Arial MT"/>
              </a:rPr>
              <a:t>n_claims</a:t>
            </a:r>
            <a:endParaRPr sz="900">
              <a:latin typeface="Arial MT"/>
              <a:cs typeface="Arial MT"/>
            </a:endParaRPr>
          </a:p>
          <a:p>
            <a:pPr marL="189865" indent="-177165">
              <a:lnSpc>
                <a:spcPct val="100000"/>
              </a:lnSpc>
              <a:spcBef>
                <a:spcPts val="320"/>
              </a:spcBef>
              <a:buFont typeface="Arial"/>
              <a:buChar char="•"/>
              <a:tabLst>
                <a:tab pos="189865" algn="l"/>
              </a:tabLst>
            </a:pP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CR = Contradicted / </a:t>
            </a:r>
            <a:r>
              <a:rPr dirty="0" sz="900" spc="-10">
                <a:solidFill>
                  <a:srgbClr val="444444"/>
                </a:solidFill>
                <a:latin typeface="Arial MT"/>
                <a:cs typeface="Arial MT"/>
              </a:rPr>
              <a:t>n_claims</a:t>
            </a:r>
            <a:endParaRPr sz="900">
              <a:latin typeface="Arial MT"/>
              <a:cs typeface="Arial MT"/>
            </a:endParaRPr>
          </a:p>
          <a:p>
            <a:pPr marL="189865" indent="-177165">
              <a:lnSpc>
                <a:spcPct val="100000"/>
              </a:lnSpc>
              <a:spcBef>
                <a:spcPts val="320"/>
              </a:spcBef>
              <a:buFont typeface="Arial"/>
              <a:buChar char="•"/>
              <a:tabLst>
                <a:tab pos="189865" algn="l"/>
              </a:tabLst>
            </a:pP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Wilcoxon signed-rank test (two-sided) for </a:t>
            </a:r>
            <a:r>
              <a:rPr dirty="0" sz="900" spc="-10">
                <a:solidFill>
                  <a:srgbClr val="444444"/>
                </a:solidFill>
                <a:latin typeface="Arial MT"/>
                <a:cs typeface="Arial MT"/>
              </a:rPr>
              <a:t>significance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460300" y="2488399"/>
            <a:ext cx="1480820" cy="772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100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Claim </a:t>
            </a:r>
            <a:r>
              <a:rPr dirty="0" u="heavy" sz="1100" spc="-10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Statistics</a:t>
            </a:r>
            <a:endParaRPr sz="1100">
              <a:latin typeface="Arial"/>
              <a:cs typeface="Arial"/>
            </a:endParaRPr>
          </a:p>
          <a:p>
            <a:pPr algn="just" marL="190500" marR="5080">
              <a:lnSpc>
                <a:spcPct val="120400"/>
              </a:lnSpc>
              <a:spcBef>
                <a:spcPts val="660"/>
              </a:spcBef>
            </a:pP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E0: 653 claims </a:t>
            </a:r>
            <a:r>
              <a:rPr dirty="0" sz="900" spc="-10">
                <a:solidFill>
                  <a:srgbClr val="444444"/>
                </a:solidFill>
                <a:latin typeface="Arial MT"/>
                <a:cs typeface="Arial MT"/>
              </a:rPr>
              <a:t>evaluated </a:t>
            </a: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E1: 478 claims </a:t>
            </a:r>
            <a:r>
              <a:rPr dirty="0" sz="900" spc="-10">
                <a:solidFill>
                  <a:srgbClr val="444444"/>
                </a:solidFill>
                <a:latin typeface="Arial MT"/>
                <a:cs typeface="Arial MT"/>
              </a:rPr>
              <a:t>evaluated </a:t>
            </a: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E2: 242 claims </a:t>
            </a:r>
            <a:r>
              <a:rPr dirty="0" sz="900" spc="-10">
                <a:solidFill>
                  <a:srgbClr val="444444"/>
                </a:solidFill>
                <a:latin typeface="Arial MT"/>
                <a:cs typeface="Arial MT"/>
              </a:rPr>
              <a:t>evaluated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866831" y="126599"/>
            <a:ext cx="295846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3-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Way</a:t>
            </a:r>
            <a:r>
              <a:rPr dirty="0" sz="15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Results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E0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vs</a:t>
            </a:r>
            <a:r>
              <a:rPr dirty="0" sz="15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E1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vs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25" b="1">
                <a:solidFill>
                  <a:srgbClr val="FFFFFF"/>
                </a:solidFill>
                <a:latin typeface="Arial"/>
                <a:cs typeface="Arial"/>
              </a:rPr>
              <a:t>E2</a:t>
            </a:r>
            <a:endParaRPr sz="15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Hallucination Evaluation in LLM-Based Medical Summarization</a:t>
            </a:r>
            <a:r>
              <a:rPr dirty="0" spc="204"/>
              <a:t> </a:t>
            </a:r>
            <a:r>
              <a:rPr dirty="0"/>
              <a:t>·</a:t>
            </a:r>
            <a:r>
              <a:rPr dirty="0" spc="200"/>
              <a:t> </a:t>
            </a:r>
            <a:r>
              <a:rPr dirty="0"/>
              <a:t>CSUN Comp</a:t>
            </a:r>
            <a:r>
              <a:rPr dirty="0" spc="5"/>
              <a:t> </a:t>
            </a:r>
            <a:r>
              <a:rPr dirty="0"/>
              <a:t>696C</a:t>
            </a:r>
            <a:r>
              <a:rPr dirty="0" spc="200"/>
              <a:t> </a:t>
            </a:r>
            <a:r>
              <a:rPr dirty="0"/>
              <a:t>·</a:t>
            </a:r>
            <a:r>
              <a:rPr dirty="0" spc="200"/>
              <a:t> </a:t>
            </a:r>
            <a:r>
              <a:rPr dirty="0"/>
              <a:t>April</a:t>
            </a:r>
            <a:r>
              <a:rPr dirty="0" spc="5"/>
              <a:t> </a:t>
            </a:r>
            <a:r>
              <a:rPr dirty="0" spc="-20"/>
              <a:t>2026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/>
              <a:t>10</a:t>
            </a:fld>
            <a:r>
              <a:rPr dirty="0" spc="-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 spc="-25"/>
              <a:t>10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659825" y="910424"/>
          <a:ext cx="7448550" cy="838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6794"/>
                <a:gridCol w="1192530"/>
                <a:gridCol w="906780"/>
                <a:gridCol w="1236980"/>
                <a:gridCol w="971550"/>
                <a:gridCol w="969644"/>
                <a:gridCol w="1061720"/>
              </a:tblGrid>
              <a:tr h="279400">
                <a:tc>
                  <a:txBody>
                    <a:bodyPr/>
                    <a:lstStyle/>
                    <a:p>
                      <a:pPr algn="ctr" marL="11620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Metric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572B82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588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E0 </a:t>
                      </a:r>
                      <a:r>
                        <a:rPr dirty="0" sz="10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Baseline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572B82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54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E1 </a:t>
                      </a:r>
                      <a:r>
                        <a:rPr dirty="0" sz="10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RAG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572B82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E2 </a:t>
                      </a:r>
                      <a:r>
                        <a:rPr dirty="0" sz="10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Extractive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572B82"/>
                    </a:solidFill>
                  </a:tcPr>
                </a:tc>
                <a:tc>
                  <a:txBody>
                    <a:bodyPr/>
                    <a:lstStyle/>
                    <a:p>
                      <a:pPr marL="21653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E1</a:t>
                      </a:r>
                      <a:r>
                        <a:rPr dirty="0" sz="1000">
                          <a:solidFill>
                            <a:srgbClr val="FFFFFF"/>
                          </a:solidFill>
                          <a:latin typeface="Symbol"/>
                          <a:cs typeface="Symbol"/>
                        </a:rPr>
                        <a:t></a:t>
                      </a:r>
                      <a:r>
                        <a:rPr dirty="0" sz="10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E0</a:t>
                      </a:r>
                      <a:r>
                        <a:rPr dirty="0" sz="10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50">
                          <a:solidFill>
                            <a:srgbClr val="FFFFFF"/>
                          </a:solidFill>
                          <a:latin typeface="Symbol"/>
                          <a:cs typeface="Symbol"/>
                        </a:rPr>
                        <a:t></a:t>
                      </a:r>
                      <a:endParaRPr sz="1000">
                        <a:latin typeface="Symbol"/>
                        <a:cs typeface="Symbol"/>
                      </a:endParaRPr>
                    </a:p>
                  </a:txBody>
                  <a:tcPr marL="0" marR="0" marB="0" marT="63500"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572B82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572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E2</a:t>
                      </a:r>
                      <a:r>
                        <a:rPr dirty="0" sz="1000">
                          <a:solidFill>
                            <a:srgbClr val="FFFFFF"/>
                          </a:solidFill>
                          <a:latin typeface="Symbol"/>
                          <a:cs typeface="Symbol"/>
                        </a:rPr>
                        <a:t></a:t>
                      </a:r>
                      <a:r>
                        <a:rPr dirty="0" sz="10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E0</a:t>
                      </a:r>
                      <a:r>
                        <a:rPr dirty="0" sz="10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50">
                          <a:solidFill>
                            <a:srgbClr val="FFFFFF"/>
                          </a:solidFill>
                          <a:latin typeface="Symbol"/>
                          <a:cs typeface="Symbol"/>
                        </a:rPr>
                        <a:t></a:t>
                      </a:r>
                      <a:endParaRPr sz="1000">
                        <a:latin typeface="Symbol"/>
                        <a:cs typeface="Symbol"/>
                      </a:endParaRPr>
                    </a:p>
                  </a:txBody>
                  <a:tcPr marL="0" marR="0" marB="0" marT="63500"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572B82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572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Wilcoxon </a:t>
                      </a:r>
                      <a:r>
                        <a:rPr dirty="0" sz="1000" spc="-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572B82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 marL="11620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 spc="-25" b="1">
                          <a:solidFill>
                            <a:srgbClr val="572B82"/>
                          </a:solidFill>
                          <a:latin typeface="Arial"/>
                          <a:cs typeface="Arial"/>
                        </a:rPr>
                        <a:t>UFR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6350">
                      <a:solidFill>
                        <a:srgbClr val="CCCCCC"/>
                      </a:solidFill>
                      <a:prstDash val="solid"/>
                    </a:lnL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588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 spc="-10">
                          <a:solidFill>
                            <a:srgbClr val="444444"/>
                          </a:solidFill>
                          <a:latin typeface="Arial MT"/>
                          <a:cs typeface="Arial MT"/>
                        </a:rPr>
                        <a:t>0.7967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54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 spc="-10">
                          <a:solidFill>
                            <a:srgbClr val="444444"/>
                          </a:solidFill>
                          <a:latin typeface="Arial MT"/>
                          <a:cs typeface="Arial MT"/>
                        </a:rPr>
                        <a:t>0.8070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 spc="-10">
                          <a:solidFill>
                            <a:srgbClr val="444444"/>
                          </a:solidFill>
                          <a:latin typeface="Arial MT"/>
                          <a:cs typeface="Arial MT"/>
                        </a:rPr>
                        <a:t>0.1220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 spc="-10">
                          <a:solidFill>
                            <a:srgbClr val="CC0000"/>
                          </a:solidFill>
                          <a:latin typeface="Arial MT"/>
                          <a:cs typeface="Arial MT"/>
                        </a:rPr>
                        <a:t>+0.0103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572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 b="1">
                          <a:solidFill>
                            <a:srgbClr val="2A8C4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000" spc="-10" b="1">
                          <a:solidFill>
                            <a:srgbClr val="2A8C49"/>
                          </a:solidFill>
                          <a:latin typeface="Arial"/>
                          <a:cs typeface="Arial"/>
                        </a:rPr>
                        <a:t>0.6747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5717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>
                          <a:solidFill>
                            <a:srgbClr val="444444"/>
                          </a:solidFill>
                          <a:latin typeface="Arial MT"/>
                          <a:cs typeface="Arial MT"/>
                        </a:rPr>
                        <a:t>0.576</a:t>
                      </a:r>
                      <a:r>
                        <a:rPr dirty="0" sz="1000" spc="295">
                          <a:solidFill>
                            <a:srgbClr val="44444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20">
                          <a:solidFill>
                            <a:srgbClr val="444444"/>
                          </a:solidFill>
                          <a:latin typeface="Arial MT"/>
                          <a:cs typeface="Arial MT"/>
                        </a:rPr>
                        <a:t>n.s.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 marL="11620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 spc="-25" b="1">
                          <a:solidFill>
                            <a:srgbClr val="572B82"/>
                          </a:solidFill>
                          <a:latin typeface="Arial"/>
                          <a:cs typeface="Arial"/>
                        </a:rPr>
                        <a:t>CR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6350">
                      <a:solidFill>
                        <a:srgbClr val="CCCCCC"/>
                      </a:solidFill>
                      <a:prstDash val="solid"/>
                    </a:lnL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588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 spc="-10">
                          <a:solidFill>
                            <a:srgbClr val="444444"/>
                          </a:solidFill>
                          <a:latin typeface="Arial MT"/>
                          <a:cs typeface="Arial MT"/>
                        </a:rPr>
                        <a:t>0.2262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54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 spc="-10">
                          <a:solidFill>
                            <a:srgbClr val="444444"/>
                          </a:solidFill>
                          <a:latin typeface="Arial MT"/>
                          <a:cs typeface="Arial MT"/>
                        </a:rPr>
                        <a:t>0.1536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 spc="-10">
                          <a:solidFill>
                            <a:srgbClr val="444444"/>
                          </a:solidFill>
                          <a:latin typeface="Arial MT"/>
                          <a:cs typeface="Arial MT"/>
                        </a:rPr>
                        <a:t>0.0963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828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 b="1">
                          <a:solidFill>
                            <a:srgbClr val="2A8C4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000" spc="-10" b="1">
                          <a:solidFill>
                            <a:srgbClr val="2A8C49"/>
                          </a:solidFill>
                          <a:latin typeface="Arial"/>
                          <a:cs typeface="Arial"/>
                        </a:rPr>
                        <a:t>0.0726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572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 b="1">
                          <a:solidFill>
                            <a:srgbClr val="2A8C4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000" spc="-10" b="1">
                          <a:solidFill>
                            <a:srgbClr val="2A8C49"/>
                          </a:solidFill>
                          <a:latin typeface="Arial"/>
                          <a:cs typeface="Arial"/>
                        </a:rPr>
                        <a:t>0.1299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572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 b="1">
                          <a:solidFill>
                            <a:srgbClr val="CC0000"/>
                          </a:solidFill>
                          <a:latin typeface="Arial"/>
                          <a:cs typeface="Arial"/>
                        </a:rPr>
                        <a:t>0.0001</a:t>
                      </a:r>
                      <a:r>
                        <a:rPr dirty="0" sz="1000" spc="305" b="1">
                          <a:solidFill>
                            <a:srgbClr val="CC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25" b="1">
                          <a:solidFill>
                            <a:srgbClr val="CC0000"/>
                          </a:solidFill>
                          <a:latin typeface="Arial"/>
                          <a:cs typeface="Arial"/>
                        </a:rPr>
                        <a:t>***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2744767" y="1798789"/>
            <a:ext cx="5214620" cy="355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85775" marR="5080" indent="-473709">
              <a:lnSpc>
                <a:spcPct val="127499"/>
              </a:lnSpc>
              <a:spcBef>
                <a:spcPts val="100"/>
              </a:spcBef>
            </a:pPr>
            <a:r>
              <a:rPr dirty="0" sz="850" i="1">
                <a:solidFill>
                  <a:srgbClr val="666666"/>
                </a:solidFill>
                <a:latin typeface="Arial"/>
                <a:cs typeface="Arial"/>
              </a:rPr>
              <a:t>UFR</a:t>
            </a:r>
            <a:r>
              <a:rPr dirty="0" sz="850" spc="-15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50" i="1">
                <a:solidFill>
                  <a:srgbClr val="666666"/>
                </a:solidFill>
                <a:latin typeface="Arial"/>
                <a:cs typeface="Arial"/>
              </a:rPr>
              <a:t>=</a:t>
            </a:r>
            <a:r>
              <a:rPr dirty="0" sz="850" spc="-1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50" i="1">
                <a:solidFill>
                  <a:srgbClr val="666666"/>
                </a:solidFill>
                <a:latin typeface="Arial"/>
                <a:cs typeface="Arial"/>
              </a:rPr>
              <a:t>(Contradicted</a:t>
            </a:r>
            <a:r>
              <a:rPr dirty="0" sz="850" spc="-15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50" i="1">
                <a:solidFill>
                  <a:srgbClr val="666666"/>
                </a:solidFill>
                <a:latin typeface="Arial"/>
                <a:cs typeface="Arial"/>
              </a:rPr>
              <a:t>+</a:t>
            </a:r>
            <a:r>
              <a:rPr dirty="0" sz="850" spc="-10" i="1">
                <a:solidFill>
                  <a:srgbClr val="666666"/>
                </a:solidFill>
                <a:latin typeface="Arial"/>
                <a:cs typeface="Arial"/>
              </a:rPr>
              <a:t> Not-</a:t>
            </a:r>
            <a:r>
              <a:rPr dirty="0" sz="850" i="1">
                <a:solidFill>
                  <a:srgbClr val="666666"/>
                </a:solidFill>
                <a:latin typeface="Arial"/>
                <a:cs typeface="Arial"/>
              </a:rPr>
              <a:t>Supported)</a:t>
            </a:r>
            <a:r>
              <a:rPr dirty="0" sz="850" spc="-15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50" i="1">
                <a:solidFill>
                  <a:srgbClr val="666666"/>
                </a:solidFill>
                <a:latin typeface="Arial"/>
                <a:cs typeface="Arial"/>
              </a:rPr>
              <a:t>/</a:t>
            </a:r>
            <a:r>
              <a:rPr dirty="0" sz="850" spc="-1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50" i="1">
                <a:solidFill>
                  <a:srgbClr val="666666"/>
                </a:solidFill>
                <a:latin typeface="Arial"/>
                <a:cs typeface="Arial"/>
              </a:rPr>
              <a:t>total</a:t>
            </a:r>
            <a:r>
              <a:rPr dirty="0" sz="850" spc="-15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50" i="1">
                <a:solidFill>
                  <a:srgbClr val="666666"/>
                </a:solidFill>
                <a:latin typeface="Arial"/>
                <a:cs typeface="Arial"/>
              </a:rPr>
              <a:t>claims</a:t>
            </a:r>
            <a:r>
              <a:rPr dirty="0" sz="850" spc="215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50" i="1">
                <a:solidFill>
                  <a:srgbClr val="666666"/>
                </a:solidFill>
                <a:latin typeface="Arial"/>
                <a:cs typeface="Arial"/>
              </a:rPr>
              <a:t>·</a:t>
            </a:r>
            <a:r>
              <a:rPr dirty="0" sz="850" spc="215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50" i="1">
                <a:solidFill>
                  <a:srgbClr val="666666"/>
                </a:solidFill>
                <a:latin typeface="Arial"/>
                <a:cs typeface="Arial"/>
              </a:rPr>
              <a:t>CR</a:t>
            </a:r>
            <a:r>
              <a:rPr dirty="0" sz="850" spc="-15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50" i="1">
                <a:solidFill>
                  <a:srgbClr val="666666"/>
                </a:solidFill>
                <a:latin typeface="Arial"/>
                <a:cs typeface="Arial"/>
              </a:rPr>
              <a:t>=</a:t>
            </a:r>
            <a:r>
              <a:rPr dirty="0" sz="850" spc="-1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50" i="1">
                <a:solidFill>
                  <a:srgbClr val="666666"/>
                </a:solidFill>
                <a:latin typeface="Arial"/>
                <a:cs typeface="Arial"/>
              </a:rPr>
              <a:t>Contradicted</a:t>
            </a:r>
            <a:r>
              <a:rPr dirty="0" sz="850" spc="-15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50" i="1">
                <a:solidFill>
                  <a:srgbClr val="666666"/>
                </a:solidFill>
                <a:latin typeface="Arial"/>
                <a:cs typeface="Arial"/>
              </a:rPr>
              <a:t>/</a:t>
            </a:r>
            <a:r>
              <a:rPr dirty="0" sz="850" spc="-1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50" i="1">
                <a:solidFill>
                  <a:srgbClr val="666666"/>
                </a:solidFill>
                <a:latin typeface="Arial"/>
                <a:cs typeface="Arial"/>
              </a:rPr>
              <a:t>total</a:t>
            </a:r>
            <a:r>
              <a:rPr dirty="0" sz="850" spc="-1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50" i="1">
                <a:solidFill>
                  <a:srgbClr val="666666"/>
                </a:solidFill>
                <a:latin typeface="Arial"/>
                <a:cs typeface="Arial"/>
              </a:rPr>
              <a:t>claims</a:t>
            </a:r>
            <a:r>
              <a:rPr dirty="0" sz="850" spc="21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50" i="1">
                <a:solidFill>
                  <a:srgbClr val="666666"/>
                </a:solidFill>
                <a:latin typeface="Arial"/>
                <a:cs typeface="Arial"/>
              </a:rPr>
              <a:t>·</a:t>
            </a:r>
            <a:r>
              <a:rPr dirty="0" sz="850" spc="215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666666"/>
                </a:solidFill>
                <a:latin typeface="Symbol"/>
                <a:cs typeface="Symbol"/>
              </a:rPr>
              <a:t></a:t>
            </a:r>
            <a:r>
              <a:rPr dirty="0" sz="850" spc="5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850" i="1">
                <a:solidFill>
                  <a:srgbClr val="666666"/>
                </a:solidFill>
                <a:latin typeface="Arial"/>
                <a:cs typeface="Arial"/>
              </a:rPr>
              <a:t>=</a:t>
            </a:r>
            <a:r>
              <a:rPr dirty="0" sz="850" spc="-1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50" i="1">
                <a:solidFill>
                  <a:srgbClr val="666666"/>
                </a:solidFill>
                <a:latin typeface="Arial"/>
                <a:cs typeface="Arial"/>
              </a:rPr>
              <a:t>condition</a:t>
            </a:r>
            <a:r>
              <a:rPr dirty="0" sz="850" spc="-1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666666"/>
                </a:solidFill>
                <a:latin typeface="Symbol"/>
                <a:cs typeface="Symbol"/>
              </a:rPr>
              <a:t></a:t>
            </a:r>
            <a:r>
              <a:rPr dirty="0" sz="850" spc="5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850" spc="-25" i="1">
                <a:solidFill>
                  <a:srgbClr val="666666"/>
                </a:solidFill>
                <a:latin typeface="Arial"/>
                <a:cs typeface="Arial"/>
              </a:rPr>
              <a:t>E0 </a:t>
            </a:r>
            <a:r>
              <a:rPr dirty="0" sz="850" i="1">
                <a:solidFill>
                  <a:srgbClr val="666666"/>
                </a:solidFill>
                <a:latin typeface="Arial"/>
                <a:cs typeface="Arial"/>
              </a:rPr>
              <a:t>Green</a:t>
            </a:r>
            <a:r>
              <a:rPr dirty="0" sz="850" spc="-1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666666"/>
                </a:solidFill>
                <a:latin typeface="Symbol"/>
                <a:cs typeface="Symbol"/>
              </a:rPr>
              <a:t></a:t>
            </a:r>
            <a:r>
              <a:rPr dirty="0" sz="850" spc="1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850" i="1">
                <a:solidFill>
                  <a:srgbClr val="666666"/>
                </a:solidFill>
                <a:latin typeface="Arial"/>
                <a:cs typeface="Arial"/>
              </a:rPr>
              <a:t>=</a:t>
            </a:r>
            <a:r>
              <a:rPr dirty="0" sz="850" spc="-1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50" i="1">
                <a:solidFill>
                  <a:srgbClr val="666666"/>
                </a:solidFill>
                <a:latin typeface="Arial"/>
                <a:cs typeface="Arial"/>
              </a:rPr>
              <a:t>improvement</a:t>
            </a:r>
            <a:r>
              <a:rPr dirty="0" sz="850" spc="-1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50" i="1">
                <a:solidFill>
                  <a:srgbClr val="666666"/>
                </a:solidFill>
                <a:latin typeface="Arial"/>
                <a:cs typeface="Arial"/>
              </a:rPr>
              <a:t>over</a:t>
            </a:r>
            <a:r>
              <a:rPr dirty="0" sz="850" spc="-1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50" i="1">
                <a:solidFill>
                  <a:srgbClr val="666666"/>
                </a:solidFill>
                <a:latin typeface="Arial"/>
                <a:cs typeface="Arial"/>
              </a:rPr>
              <a:t>baseline</a:t>
            </a:r>
            <a:r>
              <a:rPr dirty="0" sz="850" spc="215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50" i="1">
                <a:solidFill>
                  <a:srgbClr val="666666"/>
                </a:solidFill>
                <a:latin typeface="Arial"/>
                <a:cs typeface="Arial"/>
              </a:rPr>
              <a:t>·</a:t>
            </a:r>
            <a:r>
              <a:rPr dirty="0" sz="850" spc="22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50" i="1">
                <a:solidFill>
                  <a:srgbClr val="666666"/>
                </a:solidFill>
                <a:latin typeface="Arial"/>
                <a:cs typeface="Arial"/>
              </a:rPr>
              <a:t>***</a:t>
            </a:r>
            <a:r>
              <a:rPr dirty="0" sz="850" spc="-1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50" i="1">
                <a:solidFill>
                  <a:srgbClr val="666666"/>
                </a:solidFill>
                <a:latin typeface="Arial"/>
                <a:cs typeface="Arial"/>
              </a:rPr>
              <a:t>p</a:t>
            </a:r>
            <a:r>
              <a:rPr dirty="0" sz="850" spc="-1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50" i="1">
                <a:solidFill>
                  <a:srgbClr val="666666"/>
                </a:solidFill>
                <a:latin typeface="Arial"/>
                <a:cs typeface="Arial"/>
              </a:rPr>
              <a:t>&lt;</a:t>
            </a:r>
            <a:r>
              <a:rPr dirty="0" sz="850" spc="-1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50" i="1">
                <a:solidFill>
                  <a:srgbClr val="666666"/>
                </a:solidFill>
                <a:latin typeface="Arial"/>
                <a:cs typeface="Arial"/>
              </a:rPr>
              <a:t>0.001</a:t>
            </a:r>
            <a:r>
              <a:rPr dirty="0" sz="850" spc="-1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850" i="1">
                <a:solidFill>
                  <a:srgbClr val="666666"/>
                </a:solidFill>
                <a:latin typeface="Arial"/>
                <a:cs typeface="Arial"/>
              </a:rPr>
              <a:t>(Wilcoxon</a:t>
            </a:r>
            <a:r>
              <a:rPr dirty="0" sz="850" spc="-10" i="1">
                <a:solidFill>
                  <a:srgbClr val="666666"/>
                </a:solidFill>
                <a:latin typeface="Arial"/>
                <a:cs typeface="Arial"/>
              </a:rPr>
              <a:t> signed-</a:t>
            </a:r>
            <a:r>
              <a:rPr dirty="0" sz="850" i="1">
                <a:solidFill>
                  <a:srgbClr val="666666"/>
                </a:solidFill>
                <a:latin typeface="Arial"/>
                <a:cs typeface="Arial"/>
              </a:rPr>
              <a:t>rank,</a:t>
            </a:r>
            <a:r>
              <a:rPr dirty="0" sz="850" spc="-10" i="1">
                <a:solidFill>
                  <a:srgbClr val="666666"/>
                </a:solidFill>
                <a:latin typeface="Arial"/>
                <a:cs typeface="Arial"/>
              </a:rPr>
              <a:t> two-sided)</a:t>
            </a:r>
            <a:endParaRPr sz="8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91300" y="2221699"/>
            <a:ext cx="5200015" cy="797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100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Key</a:t>
            </a:r>
            <a:r>
              <a:rPr dirty="0" u="heavy" sz="1100" spc="-25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100" spc="-10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Takeaways</a:t>
            </a:r>
            <a:endParaRPr sz="1100">
              <a:latin typeface="Arial"/>
              <a:cs typeface="Arial"/>
            </a:endParaRPr>
          </a:p>
          <a:p>
            <a:pPr marL="189865" indent="-177165">
              <a:lnSpc>
                <a:spcPct val="100000"/>
              </a:lnSpc>
              <a:spcBef>
                <a:spcPts val="880"/>
              </a:spcBef>
              <a:buFont typeface="Arial"/>
              <a:buChar char="•"/>
              <a:tabLst>
                <a:tab pos="189865" algn="l"/>
              </a:tabLst>
            </a:pP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RAG (E1) significantly reduces Contradiction Rate by 32% (p = 0.0001) but does not improve </a:t>
            </a:r>
            <a:r>
              <a:rPr dirty="0" sz="900" spc="-20">
                <a:solidFill>
                  <a:srgbClr val="444444"/>
                </a:solidFill>
                <a:latin typeface="Arial MT"/>
                <a:cs typeface="Arial MT"/>
              </a:rPr>
              <a:t>UFR.</a:t>
            </a:r>
            <a:endParaRPr sz="900">
              <a:latin typeface="Arial MT"/>
              <a:cs typeface="Arial MT"/>
            </a:endParaRPr>
          </a:p>
          <a:p>
            <a:pPr marL="189865" indent="-177165">
              <a:lnSpc>
                <a:spcPct val="100000"/>
              </a:lnSpc>
              <a:spcBef>
                <a:spcPts val="320"/>
              </a:spcBef>
              <a:buFont typeface="Arial"/>
              <a:buChar char="•"/>
              <a:tabLst>
                <a:tab pos="189865" algn="l"/>
              </a:tabLst>
            </a:pP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Extractive</a:t>
            </a:r>
            <a:r>
              <a:rPr dirty="0" sz="9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baseline (E2)</a:t>
            </a:r>
            <a:r>
              <a:rPr dirty="0" sz="9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achieves near-zero UFR</a:t>
            </a:r>
            <a:r>
              <a:rPr dirty="0" sz="9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= 0.122, confirming</a:t>
            </a:r>
            <a:r>
              <a:rPr dirty="0" sz="9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pipeline </a:t>
            </a:r>
            <a:r>
              <a:rPr dirty="0" sz="900" spc="-10">
                <a:solidFill>
                  <a:srgbClr val="444444"/>
                </a:solidFill>
                <a:latin typeface="Arial MT"/>
                <a:cs typeface="Arial MT"/>
              </a:rPr>
              <a:t>validity.</a:t>
            </a:r>
            <a:endParaRPr sz="900">
              <a:latin typeface="Arial MT"/>
              <a:cs typeface="Arial MT"/>
            </a:endParaRPr>
          </a:p>
          <a:p>
            <a:pPr marL="189865" indent="-177165">
              <a:lnSpc>
                <a:spcPct val="100000"/>
              </a:lnSpc>
              <a:spcBef>
                <a:spcPts val="320"/>
              </a:spcBef>
              <a:buFont typeface="Arial"/>
              <a:buChar char="•"/>
              <a:tabLst>
                <a:tab pos="189865" algn="l"/>
              </a:tabLst>
            </a:pP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Residual Not-Supported claims in E1 point to hallucinations beyond simple </a:t>
            </a:r>
            <a:r>
              <a:rPr dirty="0" sz="900" spc="-10">
                <a:solidFill>
                  <a:srgbClr val="444444"/>
                </a:solidFill>
                <a:latin typeface="Arial MT"/>
                <a:cs typeface="Arial MT"/>
              </a:rPr>
              <a:t>contradiction.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8647" y="898557"/>
            <a:ext cx="3787705" cy="2849952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4720399" y="1015199"/>
            <a:ext cx="2095500" cy="279400"/>
          </a:xfrm>
          <a:custGeom>
            <a:avLst/>
            <a:gdLst/>
            <a:ahLst/>
            <a:cxnLst/>
            <a:rect l="l" t="t" r="r" b="b"/>
            <a:pathLst>
              <a:path w="2095500" h="279400">
                <a:moveTo>
                  <a:pt x="2044699" y="0"/>
                </a:moveTo>
                <a:lnTo>
                  <a:pt x="50800" y="0"/>
                </a:lnTo>
                <a:lnTo>
                  <a:pt x="31015" y="3988"/>
                </a:lnTo>
                <a:lnTo>
                  <a:pt x="14869" y="14869"/>
                </a:lnTo>
                <a:lnTo>
                  <a:pt x="3988" y="31015"/>
                </a:lnTo>
                <a:lnTo>
                  <a:pt x="0" y="50800"/>
                </a:lnTo>
                <a:lnTo>
                  <a:pt x="0" y="228600"/>
                </a:lnTo>
                <a:lnTo>
                  <a:pt x="3988" y="248384"/>
                </a:lnTo>
                <a:lnTo>
                  <a:pt x="14869" y="264530"/>
                </a:lnTo>
                <a:lnTo>
                  <a:pt x="31015" y="275411"/>
                </a:lnTo>
                <a:lnTo>
                  <a:pt x="50800" y="279400"/>
                </a:lnTo>
                <a:lnTo>
                  <a:pt x="2044699" y="279400"/>
                </a:lnTo>
                <a:lnTo>
                  <a:pt x="2064484" y="275411"/>
                </a:lnTo>
                <a:lnTo>
                  <a:pt x="2080630" y="264530"/>
                </a:lnTo>
                <a:lnTo>
                  <a:pt x="2091511" y="248384"/>
                </a:lnTo>
                <a:lnTo>
                  <a:pt x="2095499" y="228600"/>
                </a:lnTo>
                <a:lnTo>
                  <a:pt x="2095499" y="50800"/>
                </a:lnTo>
                <a:lnTo>
                  <a:pt x="2091511" y="31015"/>
                </a:lnTo>
                <a:lnTo>
                  <a:pt x="2080630" y="14869"/>
                </a:lnTo>
                <a:lnTo>
                  <a:pt x="2064484" y="3988"/>
                </a:lnTo>
                <a:lnTo>
                  <a:pt x="2044699" y="0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2750596" y="126599"/>
            <a:ext cx="5190490" cy="2893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CR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Finding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RAG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Significantly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Reduces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Contradictions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500">
              <a:latin typeface="Arial"/>
              <a:cs typeface="Arial"/>
            </a:endParaRPr>
          </a:p>
          <a:p>
            <a:pPr algn="r" marR="1736089">
              <a:lnSpc>
                <a:spcPct val="100000"/>
              </a:lnSpc>
            </a:pPr>
            <a:r>
              <a:rPr dirty="0" sz="1300" b="1">
                <a:solidFill>
                  <a:srgbClr val="572B82"/>
                </a:solidFill>
                <a:latin typeface="Arial"/>
                <a:cs typeface="Arial"/>
              </a:rPr>
              <a:t>Contradiction</a:t>
            </a:r>
            <a:r>
              <a:rPr dirty="0" sz="1300" spc="-85" b="1">
                <a:solidFill>
                  <a:srgbClr val="572B82"/>
                </a:solidFill>
                <a:latin typeface="Arial"/>
                <a:cs typeface="Arial"/>
              </a:rPr>
              <a:t> </a:t>
            </a:r>
            <a:r>
              <a:rPr dirty="0" sz="1300" spc="-20" b="1">
                <a:solidFill>
                  <a:srgbClr val="572B82"/>
                </a:solidFill>
                <a:latin typeface="Arial"/>
                <a:cs typeface="Arial"/>
              </a:rPr>
              <a:t>Rate</a:t>
            </a:r>
            <a:endParaRPr sz="1300">
              <a:latin typeface="Arial"/>
              <a:cs typeface="Arial"/>
            </a:endParaRPr>
          </a:p>
          <a:p>
            <a:pPr algn="r" marR="1673225">
              <a:lnSpc>
                <a:spcPct val="100000"/>
              </a:lnSpc>
              <a:spcBef>
                <a:spcPts val="940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dirty="0" sz="12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= 0.0001</a:t>
            </a:r>
            <a:r>
              <a:rPr dirty="0" sz="1200" spc="3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25" b="1">
                <a:solidFill>
                  <a:srgbClr val="FFFFFF"/>
                </a:solidFill>
                <a:latin typeface="Arial"/>
                <a:cs typeface="Arial"/>
              </a:rPr>
              <a:t>***</a:t>
            </a:r>
            <a:endParaRPr sz="1200">
              <a:latin typeface="Arial"/>
              <a:cs typeface="Arial"/>
            </a:endParaRPr>
          </a:p>
          <a:p>
            <a:pPr algn="just" marL="1969770" marR="2038985">
              <a:lnSpc>
                <a:spcPct val="131600"/>
              </a:lnSpc>
              <a:spcBef>
                <a:spcPts val="1250"/>
              </a:spcBef>
            </a:pPr>
            <a:r>
              <a:rPr dirty="0" sz="950" b="1">
                <a:solidFill>
                  <a:srgbClr val="572B82"/>
                </a:solidFill>
                <a:latin typeface="Arial"/>
                <a:cs typeface="Arial"/>
              </a:rPr>
              <a:t>E0</a:t>
            </a:r>
            <a:r>
              <a:rPr dirty="0" sz="950" spc="-5" b="1">
                <a:solidFill>
                  <a:srgbClr val="572B82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572B82"/>
                </a:solidFill>
                <a:latin typeface="Arial"/>
                <a:cs typeface="Arial"/>
              </a:rPr>
              <a:t>Mean</a:t>
            </a:r>
            <a:r>
              <a:rPr dirty="0" sz="950" spc="-5" b="1">
                <a:solidFill>
                  <a:srgbClr val="572B82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572B82"/>
                </a:solidFill>
                <a:latin typeface="Arial"/>
                <a:cs typeface="Arial"/>
              </a:rPr>
              <a:t>CR:</a:t>
            </a:r>
            <a:r>
              <a:rPr dirty="0" sz="950" spc="260" b="1">
                <a:solidFill>
                  <a:srgbClr val="572B82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444444"/>
                </a:solidFill>
                <a:latin typeface="Arial MT"/>
                <a:cs typeface="Arial MT"/>
              </a:rPr>
              <a:t>0.2262 </a:t>
            </a:r>
            <a:r>
              <a:rPr dirty="0" sz="950" b="1">
                <a:solidFill>
                  <a:srgbClr val="572B82"/>
                </a:solidFill>
                <a:latin typeface="Arial"/>
                <a:cs typeface="Arial"/>
              </a:rPr>
              <a:t>E1</a:t>
            </a:r>
            <a:r>
              <a:rPr dirty="0" sz="950" spc="-5" b="1">
                <a:solidFill>
                  <a:srgbClr val="572B82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572B82"/>
                </a:solidFill>
                <a:latin typeface="Arial"/>
                <a:cs typeface="Arial"/>
              </a:rPr>
              <a:t>Mean</a:t>
            </a:r>
            <a:r>
              <a:rPr dirty="0" sz="950" spc="-5" b="1">
                <a:solidFill>
                  <a:srgbClr val="572B82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572B82"/>
                </a:solidFill>
                <a:latin typeface="Arial"/>
                <a:cs typeface="Arial"/>
              </a:rPr>
              <a:t>CR:</a:t>
            </a:r>
            <a:r>
              <a:rPr dirty="0" sz="950" spc="260" b="1">
                <a:solidFill>
                  <a:srgbClr val="572B82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444444"/>
                </a:solidFill>
                <a:latin typeface="Arial MT"/>
                <a:cs typeface="Arial MT"/>
              </a:rPr>
              <a:t>0.1536 </a:t>
            </a:r>
            <a:r>
              <a:rPr dirty="0" sz="950" b="1">
                <a:solidFill>
                  <a:srgbClr val="572B82"/>
                </a:solidFill>
                <a:latin typeface="Arial"/>
                <a:cs typeface="Arial"/>
              </a:rPr>
              <a:t>E2</a:t>
            </a:r>
            <a:r>
              <a:rPr dirty="0" sz="950" spc="-5" b="1">
                <a:solidFill>
                  <a:srgbClr val="572B82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572B82"/>
                </a:solidFill>
                <a:latin typeface="Arial"/>
                <a:cs typeface="Arial"/>
              </a:rPr>
              <a:t>Mean</a:t>
            </a:r>
            <a:r>
              <a:rPr dirty="0" sz="950" spc="-5" b="1">
                <a:solidFill>
                  <a:srgbClr val="572B82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572B82"/>
                </a:solidFill>
                <a:latin typeface="Arial"/>
                <a:cs typeface="Arial"/>
              </a:rPr>
              <a:t>CR:</a:t>
            </a:r>
            <a:r>
              <a:rPr dirty="0" sz="950" spc="260" b="1">
                <a:solidFill>
                  <a:srgbClr val="572B82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444444"/>
                </a:solidFill>
                <a:latin typeface="Arial MT"/>
                <a:cs typeface="Arial MT"/>
              </a:rPr>
              <a:t>0.0963</a:t>
            </a:r>
            <a:endParaRPr sz="950">
              <a:latin typeface="Arial MT"/>
              <a:cs typeface="Arial MT"/>
            </a:endParaRPr>
          </a:p>
          <a:p>
            <a:pPr algn="just" marL="1969770">
              <a:lnSpc>
                <a:spcPct val="100000"/>
              </a:lnSpc>
              <a:spcBef>
                <a:spcPts val="360"/>
              </a:spcBef>
            </a:pPr>
            <a:r>
              <a:rPr dirty="0" sz="950" b="1">
                <a:solidFill>
                  <a:srgbClr val="572B82"/>
                </a:solidFill>
                <a:latin typeface="Arial"/>
                <a:cs typeface="Arial"/>
              </a:rPr>
              <a:t>E1</a:t>
            </a:r>
            <a:r>
              <a:rPr dirty="0" sz="950" spc="-5" b="1">
                <a:solidFill>
                  <a:srgbClr val="572B82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572B82"/>
                </a:solidFill>
                <a:latin typeface="Arial"/>
                <a:cs typeface="Arial"/>
              </a:rPr>
              <a:t>reduction:</a:t>
            </a:r>
            <a:r>
              <a:rPr dirty="0" sz="950" spc="254" b="1">
                <a:solidFill>
                  <a:srgbClr val="572B82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444444"/>
                </a:solidFill>
                <a:latin typeface="Arial MT"/>
                <a:cs typeface="Arial MT"/>
              </a:rPr>
              <a:t>32%</a:t>
            </a:r>
            <a:endParaRPr sz="950">
              <a:latin typeface="Arial MT"/>
              <a:cs typeface="Arial MT"/>
            </a:endParaRPr>
          </a:p>
          <a:p>
            <a:pPr marL="1969770">
              <a:lnSpc>
                <a:spcPct val="100000"/>
              </a:lnSpc>
              <a:spcBef>
                <a:spcPts val="360"/>
              </a:spcBef>
            </a:pPr>
            <a:r>
              <a:rPr dirty="0" sz="950" b="1">
                <a:solidFill>
                  <a:srgbClr val="572B82"/>
                </a:solidFill>
                <a:latin typeface="Arial"/>
                <a:cs typeface="Arial"/>
              </a:rPr>
              <a:t>E1</a:t>
            </a:r>
            <a:r>
              <a:rPr dirty="0" sz="950" spc="-5" b="1">
                <a:solidFill>
                  <a:srgbClr val="572B82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572B82"/>
                </a:solidFill>
                <a:latin typeface="Arial"/>
                <a:cs typeface="Arial"/>
              </a:rPr>
              <a:t>improved:</a:t>
            </a:r>
            <a:r>
              <a:rPr dirty="0" sz="950" spc="260" b="1">
                <a:solidFill>
                  <a:srgbClr val="572B8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 MT"/>
                <a:cs typeface="Arial MT"/>
              </a:rPr>
              <a:t>72%</a:t>
            </a:r>
            <a:r>
              <a:rPr dirty="0" sz="95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444444"/>
                </a:solidFill>
                <a:latin typeface="Arial MT"/>
                <a:cs typeface="Arial MT"/>
              </a:rPr>
              <a:t>of </a:t>
            </a:r>
            <a:r>
              <a:rPr dirty="0" sz="950" spc="-10">
                <a:solidFill>
                  <a:srgbClr val="444444"/>
                </a:solidFill>
                <a:latin typeface="Arial MT"/>
                <a:cs typeface="Arial MT"/>
              </a:rPr>
              <a:t>samples</a:t>
            </a:r>
            <a:endParaRPr sz="950">
              <a:latin typeface="Arial MT"/>
              <a:cs typeface="Arial MT"/>
            </a:endParaRPr>
          </a:p>
          <a:p>
            <a:pPr marL="1969770" marR="900430">
              <a:lnSpc>
                <a:spcPct val="111100"/>
              </a:lnSpc>
              <a:spcBef>
                <a:spcPts val="890"/>
              </a:spcBef>
            </a:pPr>
            <a:r>
              <a:rPr dirty="0" sz="900" i="1">
                <a:solidFill>
                  <a:srgbClr val="444444"/>
                </a:solidFill>
                <a:latin typeface="Arial"/>
                <a:cs typeface="Arial"/>
              </a:rPr>
              <a:t>RAG constrains the model to retrieved </a:t>
            </a:r>
            <a:r>
              <a:rPr dirty="0" sz="900" spc="-10" i="1">
                <a:solidFill>
                  <a:srgbClr val="444444"/>
                </a:solidFill>
                <a:latin typeface="Arial"/>
                <a:cs typeface="Arial"/>
              </a:rPr>
              <a:t>source </a:t>
            </a:r>
            <a:r>
              <a:rPr dirty="0" sz="900" i="1">
                <a:solidFill>
                  <a:srgbClr val="444444"/>
                </a:solidFill>
                <a:latin typeface="Arial"/>
                <a:cs typeface="Arial"/>
              </a:rPr>
              <a:t>passages, preventing outright </a:t>
            </a:r>
            <a:r>
              <a:rPr dirty="0" sz="900" spc="-10" i="1">
                <a:solidFill>
                  <a:srgbClr val="444444"/>
                </a:solidFill>
                <a:latin typeface="Arial"/>
                <a:cs typeface="Arial"/>
              </a:rPr>
              <a:t>contradictions </a:t>
            </a:r>
            <a:r>
              <a:rPr dirty="0" sz="900" i="1">
                <a:solidFill>
                  <a:srgbClr val="444444"/>
                </a:solidFill>
                <a:latin typeface="Arial"/>
                <a:cs typeface="Arial"/>
              </a:rPr>
              <a:t>of stated facts. The reduction is </a:t>
            </a:r>
            <a:r>
              <a:rPr dirty="0" sz="900" spc="-10" i="1">
                <a:solidFill>
                  <a:srgbClr val="444444"/>
                </a:solidFill>
                <a:latin typeface="Arial"/>
                <a:cs typeface="Arial"/>
              </a:rPr>
              <a:t>highly </a:t>
            </a:r>
            <a:r>
              <a:rPr dirty="0" sz="900" i="1">
                <a:solidFill>
                  <a:srgbClr val="444444"/>
                </a:solidFill>
                <a:latin typeface="Arial"/>
                <a:cs typeface="Arial"/>
              </a:rPr>
              <a:t>significant</a:t>
            </a:r>
            <a:r>
              <a:rPr dirty="0" sz="900" spc="-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44444"/>
                </a:solidFill>
                <a:latin typeface="Arial"/>
                <a:cs typeface="Arial"/>
              </a:rPr>
              <a:t>(Wilcoxon</a:t>
            </a:r>
            <a:r>
              <a:rPr dirty="0" sz="900" spc="-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44444"/>
                </a:solidFill>
                <a:latin typeface="Arial"/>
                <a:cs typeface="Arial"/>
              </a:rPr>
              <a:t>W,</a:t>
            </a:r>
            <a:r>
              <a:rPr dirty="0" sz="900" spc="-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44444"/>
                </a:solidFill>
                <a:latin typeface="Arial"/>
                <a:cs typeface="Arial"/>
              </a:rPr>
              <a:t>two-</a:t>
            </a:r>
            <a:r>
              <a:rPr dirty="0" sz="900" spc="-10" i="1">
                <a:solidFill>
                  <a:srgbClr val="444444"/>
                </a:solidFill>
                <a:latin typeface="Arial"/>
                <a:cs typeface="Arial"/>
              </a:rPr>
              <a:t>sided).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Hallucination Evaluation in LLM-Based Medical Summarization</a:t>
            </a:r>
            <a:r>
              <a:rPr dirty="0" spc="204"/>
              <a:t> </a:t>
            </a:r>
            <a:r>
              <a:rPr dirty="0"/>
              <a:t>·</a:t>
            </a:r>
            <a:r>
              <a:rPr dirty="0" spc="200"/>
              <a:t> </a:t>
            </a:r>
            <a:r>
              <a:rPr dirty="0"/>
              <a:t>CSUN Comp</a:t>
            </a:r>
            <a:r>
              <a:rPr dirty="0" spc="5"/>
              <a:t> </a:t>
            </a:r>
            <a:r>
              <a:rPr dirty="0"/>
              <a:t>696C</a:t>
            </a:r>
            <a:r>
              <a:rPr dirty="0" spc="200"/>
              <a:t> </a:t>
            </a:r>
            <a:r>
              <a:rPr dirty="0"/>
              <a:t>·</a:t>
            </a:r>
            <a:r>
              <a:rPr dirty="0" spc="200"/>
              <a:t> </a:t>
            </a:r>
            <a:r>
              <a:rPr dirty="0"/>
              <a:t>April</a:t>
            </a:r>
            <a:r>
              <a:rPr dirty="0" spc="5"/>
              <a:t> </a:t>
            </a:r>
            <a:r>
              <a:rPr dirty="0" spc="-20"/>
              <a:t>2026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/>
              <a:t>10</a:t>
            </a:fld>
            <a:r>
              <a:rPr dirty="0" spc="-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 spc="-25"/>
              <a:t>10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859695" y="3840949"/>
            <a:ext cx="32264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i="1">
                <a:solidFill>
                  <a:srgbClr val="878787"/>
                </a:solidFill>
                <a:latin typeface="Arial"/>
                <a:cs typeface="Arial"/>
              </a:rPr>
              <a:t>Figure: CR distribution across 50</a:t>
            </a:r>
            <a:r>
              <a:rPr dirty="0" sz="750" spc="5" i="1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878787"/>
                </a:solidFill>
                <a:latin typeface="Arial"/>
                <a:cs typeface="Arial"/>
              </a:rPr>
              <a:t>samples (orange=E0, blue=E1, </a:t>
            </a:r>
            <a:r>
              <a:rPr dirty="0" sz="750" spc="-10" i="1">
                <a:solidFill>
                  <a:srgbClr val="878787"/>
                </a:solidFill>
                <a:latin typeface="Arial"/>
                <a:cs typeface="Arial"/>
              </a:rPr>
              <a:t>green=E2)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8647" y="898557"/>
            <a:ext cx="3787705" cy="2849952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4720399" y="1015199"/>
            <a:ext cx="2095500" cy="279400"/>
          </a:xfrm>
          <a:custGeom>
            <a:avLst/>
            <a:gdLst/>
            <a:ahLst/>
            <a:cxnLst/>
            <a:rect l="l" t="t" r="r" b="b"/>
            <a:pathLst>
              <a:path w="2095500" h="279400">
                <a:moveTo>
                  <a:pt x="2044699" y="0"/>
                </a:moveTo>
                <a:lnTo>
                  <a:pt x="50800" y="0"/>
                </a:lnTo>
                <a:lnTo>
                  <a:pt x="31015" y="3988"/>
                </a:lnTo>
                <a:lnTo>
                  <a:pt x="14869" y="14869"/>
                </a:lnTo>
                <a:lnTo>
                  <a:pt x="3988" y="31015"/>
                </a:lnTo>
                <a:lnTo>
                  <a:pt x="0" y="50800"/>
                </a:lnTo>
                <a:lnTo>
                  <a:pt x="0" y="228600"/>
                </a:lnTo>
                <a:lnTo>
                  <a:pt x="3988" y="248384"/>
                </a:lnTo>
                <a:lnTo>
                  <a:pt x="14869" y="264530"/>
                </a:lnTo>
                <a:lnTo>
                  <a:pt x="31015" y="275411"/>
                </a:lnTo>
                <a:lnTo>
                  <a:pt x="50800" y="279400"/>
                </a:lnTo>
                <a:lnTo>
                  <a:pt x="2044699" y="279400"/>
                </a:lnTo>
                <a:lnTo>
                  <a:pt x="2064484" y="275411"/>
                </a:lnTo>
                <a:lnTo>
                  <a:pt x="2080630" y="264530"/>
                </a:lnTo>
                <a:lnTo>
                  <a:pt x="2091511" y="248384"/>
                </a:lnTo>
                <a:lnTo>
                  <a:pt x="2095499" y="228600"/>
                </a:lnTo>
                <a:lnTo>
                  <a:pt x="2095499" y="50800"/>
                </a:lnTo>
                <a:lnTo>
                  <a:pt x="2091511" y="31015"/>
                </a:lnTo>
                <a:lnTo>
                  <a:pt x="2080630" y="14869"/>
                </a:lnTo>
                <a:lnTo>
                  <a:pt x="2064484" y="3988"/>
                </a:lnTo>
                <a:lnTo>
                  <a:pt x="2044699" y="0"/>
                </a:lnTo>
                <a:close/>
              </a:path>
            </a:pathLst>
          </a:custGeom>
          <a:solidFill>
            <a:srgbClr val="8787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2570478" y="126599"/>
            <a:ext cx="5550535" cy="3197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UFR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Finding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E2</a:t>
            </a:r>
            <a:r>
              <a:rPr dirty="0" sz="15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Validates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Pipeline;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RAG</a:t>
            </a:r>
            <a:r>
              <a:rPr dirty="0" sz="15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Alone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Insufficient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500">
              <a:latin typeface="Arial"/>
              <a:cs typeface="Arial"/>
            </a:endParaRPr>
          </a:p>
          <a:p>
            <a:pPr marL="2149475">
              <a:lnSpc>
                <a:spcPct val="100000"/>
              </a:lnSpc>
            </a:pPr>
            <a:r>
              <a:rPr dirty="0" sz="1300" b="1">
                <a:solidFill>
                  <a:srgbClr val="572B82"/>
                </a:solidFill>
                <a:latin typeface="Arial"/>
                <a:cs typeface="Arial"/>
              </a:rPr>
              <a:t>Unsupported</a:t>
            </a:r>
            <a:r>
              <a:rPr dirty="0" sz="1300" spc="-55" b="1">
                <a:solidFill>
                  <a:srgbClr val="572B82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572B82"/>
                </a:solidFill>
                <a:latin typeface="Arial"/>
                <a:cs typeface="Arial"/>
              </a:rPr>
              <a:t>Fact</a:t>
            </a:r>
            <a:r>
              <a:rPr dirty="0" sz="1300" spc="-55" b="1">
                <a:solidFill>
                  <a:srgbClr val="572B82"/>
                </a:solidFill>
                <a:latin typeface="Arial"/>
                <a:cs typeface="Arial"/>
              </a:rPr>
              <a:t> </a:t>
            </a:r>
            <a:r>
              <a:rPr dirty="0" sz="1300" spc="-20" b="1">
                <a:solidFill>
                  <a:srgbClr val="572B82"/>
                </a:solidFill>
                <a:latin typeface="Arial"/>
                <a:cs typeface="Arial"/>
              </a:rPr>
              <a:t>Rate</a:t>
            </a:r>
            <a:endParaRPr sz="1300">
              <a:latin typeface="Arial"/>
              <a:cs typeface="Arial"/>
            </a:endParaRPr>
          </a:p>
          <a:p>
            <a:pPr algn="ctr" marL="831850">
              <a:lnSpc>
                <a:spcPct val="100000"/>
              </a:lnSpc>
              <a:spcBef>
                <a:spcPts val="940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dirty="0" sz="12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= 0.576</a:t>
            </a:r>
            <a:r>
              <a:rPr dirty="0" sz="1200" spc="3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n.s.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200">
              <a:latin typeface="Arial"/>
              <a:cs typeface="Arial"/>
            </a:endParaRPr>
          </a:p>
          <a:p>
            <a:pPr marL="2149475">
              <a:lnSpc>
                <a:spcPct val="100000"/>
              </a:lnSpc>
            </a:pPr>
            <a:r>
              <a:rPr dirty="0" sz="950" b="1">
                <a:solidFill>
                  <a:srgbClr val="572B82"/>
                </a:solidFill>
                <a:latin typeface="Arial"/>
                <a:cs typeface="Arial"/>
              </a:rPr>
              <a:t>E0</a:t>
            </a:r>
            <a:r>
              <a:rPr dirty="0" sz="950" spc="-5" b="1">
                <a:solidFill>
                  <a:srgbClr val="572B82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572B82"/>
                </a:solidFill>
                <a:latin typeface="Arial"/>
                <a:cs typeface="Arial"/>
              </a:rPr>
              <a:t>Mean</a:t>
            </a:r>
            <a:r>
              <a:rPr dirty="0" sz="950" spc="-5" b="1">
                <a:solidFill>
                  <a:srgbClr val="572B82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572B82"/>
                </a:solidFill>
                <a:latin typeface="Arial"/>
                <a:cs typeface="Arial"/>
              </a:rPr>
              <a:t>UFR:</a:t>
            </a:r>
            <a:r>
              <a:rPr dirty="0" sz="950" spc="260" b="1">
                <a:solidFill>
                  <a:srgbClr val="572B82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444444"/>
                </a:solidFill>
                <a:latin typeface="Arial MT"/>
                <a:cs typeface="Arial MT"/>
              </a:rPr>
              <a:t>0.7967</a:t>
            </a:r>
            <a:endParaRPr sz="950">
              <a:latin typeface="Arial MT"/>
              <a:cs typeface="Arial MT"/>
            </a:endParaRPr>
          </a:p>
          <a:p>
            <a:pPr marL="2149475">
              <a:lnSpc>
                <a:spcPct val="100000"/>
              </a:lnSpc>
              <a:spcBef>
                <a:spcPts val="360"/>
              </a:spcBef>
            </a:pPr>
            <a:r>
              <a:rPr dirty="0" sz="950" b="1">
                <a:solidFill>
                  <a:srgbClr val="572B82"/>
                </a:solidFill>
                <a:latin typeface="Arial"/>
                <a:cs typeface="Arial"/>
              </a:rPr>
              <a:t>E1</a:t>
            </a:r>
            <a:r>
              <a:rPr dirty="0" sz="950" spc="-5" b="1">
                <a:solidFill>
                  <a:srgbClr val="572B82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572B82"/>
                </a:solidFill>
                <a:latin typeface="Arial"/>
                <a:cs typeface="Arial"/>
              </a:rPr>
              <a:t>Mean</a:t>
            </a:r>
            <a:r>
              <a:rPr dirty="0" sz="950" spc="-5" b="1">
                <a:solidFill>
                  <a:srgbClr val="572B82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572B82"/>
                </a:solidFill>
                <a:latin typeface="Arial"/>
                <a:cs typeface="Arial"/>
              </a:rPr>
              <a:t>UFR:</a:t>
            </a:r>
            <a:r>
              <a:rPr dirty="0" sz="950" spc="260" b="1">
                <a:solidFill>
                  <a:srgbClr val="572B82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444444"/>
                </a:solidFill>
                <a:latin typeface="Arial MT"/>
                <a:cs typeface="Arial MT"/>
              </a:rPr>
              <a:t>0.8070</a:t>
            </a:r>
            <a:endParaRPr sz="950">
              <a:latin typeface="Arial MT"/>
              <a:cs typeface="Arial MT"/>
            </a:endParaRPr>
          </a:p>
          <a:p>
            <a:pPr marL="2149475">
              <a:lnSpc>
                <a:spcPct val="100000"/>
              </a:lnSpc>
              <a:spcBef>
                <a:spcPts val="360"/>
              </a:spcBef>
            </a:pPr>
            <a:r>
              <a:rPr dirty="0" sz="950" b="1">
                <a:solidFill>
                  <a:srgbClr val="572B82"/>
                </a:solidFill>
                <a:latin typeface="Arial"/>
                <a:cs typeface="Arial"/>
              </a:rPr>
              <a:t>E2</a:t>
            </a:r>
            <a:r>
              <a:rPr dirty="0" sz="950" spc="-5" b="1">
                <a:solidFill>
                  <a:srgbClr val="572B82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572B82"/>
                </a:solidFill>
                <a:latin typeface="Arial"/>
                <a:cs typeface="Arial"/>
              </a:rPr>
              <a:t>Mean UFR:</a:t>
            </a:r>
            <a:r>
              <a:rPr dirty="0" sz="950" spc="260" b="1">
                <a:solidFill>
                  <a:srgbClr val="572B8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A8C49"/>
                </a:solidFill>
                <a:latin typeface="Arial MT"/>
                <a:cs typeface="Arial MT"/>
              </a:rPr>
              <a:t>0.1220</a:t>
            </a:r>
            <a:r>
              <a:rPr dirty="0" sz="950" spc="260">
                <a:solidFill>
                  <a:srgbClr val="2A8C49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8C49"/>
                </a:solidFill>
                <a:latin typeface="MS Gothic"/>
                <a:cs typeface="MS Gothic"/>
              </a:rPr>
              <a:t>✓</a:t>
            </a:r>
            <a:r>
              <a:rPr dirty="0" sz="950" spc="20">
                <a:solidFill>
                  <a:srgbClr val="2A8C49"/>
                </a:solidFill>
                <a:latin typeface="Times New Roman"/>
                <a:cs typeface="Times New Roman"/>
              </a:rPr>
              <a:t> </a:t>
            </a:r>
            <a:r>
              <a:rPr dirty="0" sz="950">
                <a:solidFill>
                  <a:srgbClr val="2A8C49"/>
                </a:solidFill>
                <a:latin typeface="Arial MT"/>
                <a:cs typeface="Arial MT"/>
              </a:rPr>
              <a:t>near-</a:t>
            </a:r>
            <a:r>
              <a:rPr dirty="0" sz="950" spc="-20">
                <a:solidFill>
                  <a:srgbClr val="2A8C49"/>
                </a:solidFill>
                <a:latin typeface="Arial MT"/>
                <a:cs typeface="Arial MT"/>
              </a:rPr>
              <a:t>zero</a:t>
            </a:r>
            <a:endParaRPr sz="950">
              <a:latin typeface="Arial MT"/>
              <a:cs typeface="Arial MT"/>
            </a:endParaRPr>
          </a:p>
          <a:p>
            <a:pPr marL="2149475">
              <a:lnSpc>
                <a:spcPct val="100000"/>
              </a:lnSpc>
              <a:spcBef>
                <a:spcPts val="360"/>
              </a:spcBef>
            </a:pPr>
            <a:r>
              <a:rPr dirty="0" sz="950" b="1">
                <a:solidFill>
                  <a:srgbClr val="572B82"/>
                </a:solidFill>
                <a:latin typeface="Arial"/>
                <a:cs typeface="Arial"/>
              </a:rPr>
              <a:t>E1</a:t>
            </a:r>
            <a:r>
              <a:rPr dirty="0" sz="950" spc="-5" b="1">
                <a:solidFill>
                  <a:srgbClr val="572B82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572B82"/>
                </a:solidFill>
                <a:latin typeface="Arial"/>
                <a:cs typeface="Arial"/>
              </a:rPr>
              <a:t>improved:</a:t>
            </a:r>
            <a:r>
              <a:rPr dirty="0" sz="950" spc="260" b="1">
                <a:solidFill>
                  <a:srgbClr val="572B8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 MT"/>
                <a:cs typeface="Arial MT"/>
              </a:rPr>
              <a:t>42%</a:t>
            </a:r>
            <a:r>
              <a:rPr dirty="0" sz="95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444444"/>
                </a:solidFill>
                <a:latin typeface="Arial MT"/>
                <a:cs typeface="Arial MT"/>
              </a:rPr>
              <a:t>of </a:t>
            </a:r>
            <a:r>
              <a:rPr dirty="0" sz="950" spc="-10">
                <a:solidFill>
                  <a:srgbClr val="444444"/>
                </a:solidFill>
                <a:latin typeface="Arial MT"/>
                <a:cs typeface="Arial MT"/>
              </a:rPr>
              <a:t>samples</a:t>
            </a:r>
            <a:endParaRPr sz="950">
              <a:latin typeface="Arial MT"/>
              <a:cs typeface="Arial MT"/>
            </a:endParaRPr>
          </a:p>
          <a:p>
            <a:pPr marL="2149475">
              <a:lnSpc>
                <a:spcPct val="100000"/>
              </a:lnSpc>
              <a:spcBef>
                <a:spcPts val="360"/>
              </a:spcBef>
            </a:pPr>
            <a:r>
              <a:rPr dirty="0" sz="950" b="1">
                <a:solidFill>
                  <a:srgbClr val="572B82"/>
                </a:solidFill>
                <a:latin typeface="Arial"/>
                <a:cs typeface="Arial"/>
              </a:rPr>
              <a:t>E2</a:t>
            </a:r>
            <a:r>
              <a:rPr dirty="0" sz="950" spc="-5" b="1">
                <a:solidFill>
                  <a:srgbClr val="572B82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572B82"/>
                </a:solidFill>
                <a:latin typeface="Arial"/>
                <a:cs typeface="Arial"/>
              </a:rPr>
              <a:t>improved:</a:t>
            </a:r>
            <a:r>
              <a:rPr dirty="0" sz="950" spc="260" b="1">
                <a:solidFill>
                  <a:srgbClr val="572B8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 MT"/>
                <a:cs typeface="Arial MT"/>
              </a:rPr>
              <a:t>100%</a:t>
            </a:r>
            <a:r>
              <a:rPr dirty="0" sz="95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444444"/>
                </a:solidFill>
                <a:latin typeface="Arial MT"/>
                <a:cs typeface="Arial MT"/>
              </a:rPr>
              <a:t>of </a:t>
            </a:r>
            <a:r>
              <a:rPr dirty="0" sz="950" spc="-10">
                <a:solidFill>
                  <a:srgbClr val="444444"/>
                </a:solidFill>
                <a:latin typeface="Arial MT"/>
                <a:cs typeface="Arial MT"/>
              </a:rPr>
              <a:t>samples</a:t>
            </a:r>
            <a:endParaRPr sz="950">
              <a:latin typeface="Arial MT"/>
              <a:cs typeface="Arial MT"/>
            </a:endParaRPr>
          </a:p>
          <a:p>
            <a:pPr marL="2149475" marR="1067435">
              <a:lnSpc>
                <a:spcPct val="111100"/>
              </a:lnSpc>
              <a:spcBef>
                <a:spcPts val="890"/>
              </a:spcBef>
            </a:pPr>
            <a:r>
              <a:rPr dirty="0" sz="900" i="1">
                <a:solidFill>
                  <a:srgbClr val="444444"/>
                </a:solidFill>
                <a:latin typeface="Arial"/>
                <a:cs typeface="Arial"/>
              </a:rPr>
              <a:t>RAG</a:t>
            </a:r>
            <a:r>
              <a:rPr dirty="0" sz="900" spc="-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44444"/>
                </a:solidFill>
                <a:latin typeface="Arial"/>
                <a:cs typeface="Arial"/>
              </a:rPr>
              <a:t>does</a:t>
            </a:r>
            <a:r>
              <a:rPr dirty="0" sz="900" spc="-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44444"/>
                </a:solidFill>
                <a:latin typeface="Arial"/>
                <a:cs typeface="Arial"/>
              </a:rPr>
              <a:t>not significantly</a:t>
            </a:r>
            <a:r>
              <a:rPr dirty="0" sz="900" spc="-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44444"/>
                </a:solidFill>
                <a:latin typeface="Arial"/>
                <a:cs typeface="Arial"/>
              </a:rPr>
              <a:t>reduce UFR</a:t>
            </a:r>
            <a:r>
              <a:rPr dirty="0" sz="900" spc="-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44444"/>
                </a:solidFill>
                <a:latin typeface="Arial"/>
                <a:cs typeface="Arial"/>
              </a:rPr>
              <a:t>— </a:t>
            </a:r>
            <a:r>
              <a:rPr dirty="0" sz="900" spc="-25" i="1">
                <a:solidFill>
                  <a:srgbClr val="444444"/>
                </a:solidFill>
                <a:latin typeface="Arial"/>
                <a:cs typeface="Arial"/>
              </a:rPr>
              <a:t>the </a:t>
            </a:r>
            <a:r>
              <a:rPr dirty="0" sz="900" i="1">
                <a:solidFill>
                  <a:srgbClr val="444444"/>
                </a:solidFill>
                <a:latin typeface="Arial"/>
                <a:cs typeface="Arial"/>
              </a:rPr>
              <a:t>model still produces ungrounded claims </a:t>
            </a:r>
            <a:r>
              <a:rPr dirty="0" sz="900" spc="-20" i="1">
                <a:solidFill>
                  <a:srgbClr val="444444"/>
                </a:solidFill>
                <a:latin typeface="Arial"/>
                <a:cs typeface="Arial"/>
              </a:rPr>
              <a:t>even </a:t>
            </a:r>
            <a:r>
              <a:rPr dirty="0" sz="900" i="1">
                <a:solidFill>
                  <a:srgbClr val="444444"/>
                </a:solidFill>
                <a:latin typeface="Arial"/>
                <a:cs typeface="Arial"/>
              </a:rPr>
              <a:t>when</a:t>
            </a:r>
            <a:r>
              <a:rPr dirty="0" sz="900" spc="-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44444"/>
                </a:solidFill>
                <a:latin typeface="Arial"/>
                <a:cs typeface="Arial"/>
              </a:rPr>
              <a:t>given</a:t>
            </a:r>
            <a:r>
              <a:rPr dirty="0" sz="900" spc="-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44444"/>
                </a:solidFill>
                <a:latin typeface="Arial"/>
                <a:cs typeface="Arial"/>
              </a:rPr>
              <a:t>retrieved</a:t>
            </a:r>
            <a:r>
              <a:rPr dirty="0" sz="900" spc="-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44444"/>
                </a:solidFill>
                <a:latin typeface="Arial"/>
                <a:cs typeface="Arial"/>
              </a:rPr>
              <a:t>context. E2's</a:t>
            </a:r>
            <a:r>
              <a:rPr dirty="0" sz="900" spc="-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44444"/>
                </a:solidFill>
                <a:latin typeface="Arial"/>
                <a:cs typeface="Arial"/>
              </a:rPr>
              <a:t>near-</a:t>
            </a:r>
            <a:r>
              <a:rPr dirty="0" sz="900" spc="-20" i="1">
                <a:solidFill>
                  <a:srgbClr val="444444"/>
                </a:solidFill>
                <a:latin typeface="Arial"/>
                <a:cs typeface="Arial"/>
              </a:rPr>
              <a:t>zero </a:t>
            </a:r>
            <a:r>
              <a:rPr dirty="0" sz="900" i="1">
                <a:solidFill>
                  <a:srgbClr val="444444"/>
                </a:solidFill>
                <a:latin typeface="Arial"/>
                <a:cs typeface="Arial"/>
              </a:rPr>
              <a:t>UFR</a:t>
            </a:r>
            <a:r>
              <a:rPr dirty="0" sz="900" spc="-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44444"/>
                </a:solidFill>
                <a:latin typeface="Arial"/>
                <a:cs typeface="Arial"/>
              </a:rPr>
              <a:t>confirms</a:t>
            </a:r>
            <a:r>
              <a:rPr dirty="0" sz="900" spc="-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44444"/>
                </a:solidFill>
                <a:latin typeface="Arial"/>
                <a:cs typeface="Arial"/>
              </a:rPr>
              <a:t>the</a:t>
            </a:r>
            <a:r>
              <a:rPr dirty="0" sz="900" spc="-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44444"/>
                </a:solidFill>
                <a:latin typeface="Arial"/>
                <a:cs typeface="Arial"/>
              </a:rPr>
              <a:t>NLI pipeline</a:t>
            </a:r>
            <a:r>
              <a:rPr dirty="0" sz="900" spc="-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444444"/>
                </a:solidFill>
                <a:latin typeface="Arial"/>
                <a:cs typeface="Arial"/>
              </a:rPr>
              <a:t>correctly </a:t>
            </a:r>
            <a:r>
              <a:rPr dirty="0" sz="900" i="1">
                <a:solidFill>
                  <a:srgbClr val="444444"/>
                </a:solidFill>
                <a:latin typeface="Arial"/>
                <a:cs typeface="Arial"/>
              </a:rPr>
              <a:t>identifies source-faithful text, ruling </a:t>
            </a:r>
            <a:r>
              <a:rPr dirty="0" sz="900" spc="-25" i="1">
                <a:solidFill>
                  <a:srgbClr val="444444"/>
                </a:solidFill>
                <a:latin typeface="Arial"/>
                <a:cs typeface="Arial"/>
              </a:rPr>
              <a:t>out </a:t>
            </a:r>
            <a:r>
              <a:rPr dirty="0" sz="900" i="1">
                <a:solidFill>
                  <a:srgbClr val="444444"/>
                </a:solidFill>
                <a:latin typeface="Arial"/>
                <a:cs typeface="Arial"/>
              </a:rPr>
              <a:t>measurement </a:t>
            </a:r>
            <a:r>
              <a:rPr dirty="0" sz="900" spc="-10" i="1">
                <a:solidFill>
                  <a:srgbClr val="444444"/>
                </a:solidFill>
                <a:latin typeface="Arial"/>
                <a:cs typeface="Arial"/>
              </a:rPr>
              <a:t>error.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Hallucination Evaluation in LLM-Based Medical Summarization</a:t>
            </a:r>
            <a:r>
              <a:rPr dirty="0" spc="204"/>
              <a:t> </a:t>
            </a:r>
            <a:r>
              <a:rPr dirty="0"/>
              <a:t>·</a:t>
            </a:r>
            <a:r>
              <a:rPr dirty="0" spc="200"/>
              <a:t> </a:t>
            </a:r>
            <a:r>
              <a:rPr dirty="0"/>
              <a:t>CSUN Comp</a:t>
            </a:r>
            <a:r>
              <a:rPr dirty="0" spc="5"/>
              <a:t> </a:t>
            </a:r>
            <a:r>
              <a:rPr dirty="0"/>
              <a:t>696C</a:t>
            </a:r>
            <a:r>
              <a:rPr dirty="0" spc="200"/>
              <a:t> </a:t>
            </a:r>
            <a:r>
              <a:rPr dirty="0"/>
              <a:t>·</a:t>
            </a:r>
            <a:r>
              <a:rPr dirty="0" spc="200"/>
              <a:t> </a:t>
            </a:r>
            <a:r>
              <a:rPr dirty="0"/>
              <a:t>April</a:t>
            </a:r>
            <a:r>
              <a:rPr dirty="0" spc="5"/>
              <a:t> </a:t>
            </a:r>
            <a:r>
              <a:rPr dirty="0" spc="-20"/>
              <a:t>2026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/>
              <a:t>10</a:t>
            </a:fld>
            <a:r>
              <a:rPr dirty="0" spc="-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 spc="-25"/>
              <a:t>10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830596" y="3840949"/>
            <a:ext cx="328422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i="1">
                <a:solidFill>
                  <a:srgbClr val="878787"/>
                </a:solidFill>
                <a:latin typeface="Arial"/>
                <a:cs typeface="Arial"/>
              </a:rPr>
              <a:t>Figure: UFR distribution across 50</a:t>
            </a:r>
            <a:r>
              <a:rPr dirty="0" sz="750" spc="5" i="1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878787"/>
                </a:solidFill>
                <a:latin typeface="Arial"/>
                <a:cs typeface="Arial"/>
              </a:rPr>
              <a:t>samples (orange=E0, blue=E1, </a:t>
            </a:r>
            <a:r>
              <a:rPr dirty="0" sz="750" spc="-10" i="1">
                <a:solidFill>
                  <a:srgbClr val="878787"/>
                </a:solidFill>
                <a:latin typeface="Arial"/>
                <a:cs typeface="Arial"/>
              </a:rPr>
              <a:t>green=E2)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375085" y="126599"/>
            <a:ext cx="1942464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Qualitative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Examples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494475" y="827874"/>
            <a:ext cx="4734560" cy="1987550"/>
            <a:chOff x="494475" y="827874"/>
            <a:chExt cx="4734560" cy="1987550"/>
          </a:xfrm>
        </p:grpSpPr>
        <p:sp>
          <p:nvSpPr>
            <p:cNvPr id="4" name="object 4" descr=""/>
            <p:cNvSpPr/>
            <p:nvPr/>
          </p:nvSpPr>
          <p:spPr>
            <a:xfrm>
              <a:off x="504000" y="837399"/>
              <a:ext cx="4715510" cy="1968500"/>
            </a:xfrm>
            <a:custGeom>
              <a:avLst/>
              <a:gdLst/>
              <a:ahLst/>
              <a:cxnLst/>
              <a:rect l="l" t="t" r="r" b="b"/>
              <a:pathLst>
                <a:path w="4715510" h="1968500">
                  <a:moveTo>
                    <a:pt x="76200" y="1968500"/>
                  </a:moveTo>
                  <a:lnTo>
                    <a:pt x="4638800" y="1968500"/>
                  </a:lnTo>
                  <a:lnTo>
                    <a:pt x="4668477" y="1962517"/>
                  </a:lnTo>
                  <a:lnTo>
                    <a:pt x="4692696" y="1946196"/>
                  </a:lnTo>
                  <a:lnTo>
                    <a:pt x="4709017" y="1921977"/>
                  </a:lnTo>
                  <a:lnTo>
                    <a:pt x="4715000" y="1892300"/>
                  </a:lnTo>
                  <a:lnTo>
                    <a:pt x="4715000" y="76200"/>
                  </a:lnTo>
                  <a:lnTo>
                    <a:pt x="4709017" y="46522"/>
                  </a:lnTo>
                  <a:lnTo>
                    <a:pt x="4692696" y="22303"/>
                  </a:lnTo>
                  <a:lnTo>
                    <a:pt x="4668477" y="5982"/>
                  </a:lnTo>
                  <a:lnTo>
                    <a:pt x="46388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1892300"/>
                  </a:lnTo>
                  <a:lnTo>
                    <a:pt x="5982" y="1921977"/>
                  </a:lnTo>
                  <a:lnTo>
                    <a:pt x="22303" y="1946196"/>
                  </a:lnTo>
                  <a:lnTo>
                    <a:pt x="46522" y="1962517"/>
                  </a:lnTo>
                  <a:lnTo>
                    <a:pt x="76200" y="1968500"/>
                  </a:lnTo>
                  <a:close/>
                </a:path>
              </a:pathLst>
            </a:custGeom>
            <a:ln w="19050">
              <a:solidFill>
                <a:srgbClr val="2A8C4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03999" y="837406"/>
              <a:ext cx="4715510" cy="317500"/>
            </a:xfrm>
            <a:custGeom>
              <a:avLst/>
              <a:gdLst/>
              <a:ahLst/>
              <a:cxnLst/>
              <a:rect l="l" t="t" r="r" b="b"/>
              <a:pathLst>
                <a:path w="4715510" h="317500">
                  <a:moveTo>
                    <a:pt x="4714989" y="76200"/>
                  </a:moveTo>
                  <a:lnTo>
                    <a:pt x="4709007" y="46520"/>
                  </a:lnTo>
                  <a:lnTo>
                    <a:pt x="4692688" y="22301"/>
                  </a:lnTo>
                  <a:lnTo>
                    <a:pt x="4668469" y="5981"/>
                  </a:lnTo>
                  <a:lnTo>
                    <a:pt x="4638789" y="0"/>
                  </a:lnTo>
                  <a:lnTo>
                    <a:pt x="76200" y="0"/>
                  </a:lnTo>
                  <a:lnTo>
                    <a:pt x="46520" y="5981"/>
                  </a:lnTo>
                  <a:lnTo>
                    <a:pt x="22301" y="22301"/>
                  </a:lnTo>
                  <a:lnTo>
                    <a:pt x="5981" y="46520"/>
                  </a:lnTo>
                  <a:lnTo>
                    <a:pt x="0" y="76200"/>
                  </a:lnTo>
                  <a:lnTo>
                    <a:pt x="0" y="177800"/>
                  </a:lnTo>
                  <a:lnTo>
                    <a:pt x="2552" y="190500"/>
                  </a:lnTo>
                  <a:lnTo>
                    <a:pt x="0" y="190500"/>
                  </a:lnTo>
                  <a:lnTo>
                    <a:pt x="0" y="317500"/>
                  </a:lnTo>
                  <a:lnTo>
                    <a:pt x="4714989" y="317500"/>
                  </a:lnTo>
                  <a:lnTo>
                    <a:pt x="4714989" y="190500"/>
                  </a:lnTo>
                  <a:lnTo>
                    <a:pt x="4712424" y="190500"/>
                  </a:lnTo>
                  <a:lnTo>
                    <a:pt x="4714989" y="177800"/>
                  </a:lnTo>
                  <a:lnTo>
                    <a:pt x="4714989" y="76200"/>
                  </a:lnTo>
                  <a:close/>
                </a:path>
              </a:pathLst>
            </a:custGeom>
            <a:solidFill>
              <a:srgbClr val="2A8C4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733511" y="881849"/>
            <a:ext cx="225615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b="1">
                <a:solidFill>
                  <a:srgbClr val="FFFFFF"/>
                </a:solidFill>
                <a:latin typeface="Arial"/>
                <a:cs typeface="Arial"/>
              </a:rPr>
              <a:t>RAG-Fixed: Contradicted </a:t>
            </a:r>
            <a:r>
              <a:rPr dirty="0" sz="950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95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950" spc="-10" b="1">
                <a:solidFill>
                  <a:srgbClr val="FFFFFF"/>
                </a:solidFill>
                <a:latin typeface="Arial"/>
                <a:cs typeface="Arial"/>
              </a:rPr>
              <a:t>Supported</a:t>
            </a:r>
            <a:endParaRPr sz="9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92900" y="1078699"/>
            <a:ext cx="441706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DF7B54"/>
                </a:solidFill>
                <a:latin typeface="Arial"/>
                <a:cs typeface="Arial"/>
              </a:rPr>
              <a:t>E0:</a:t>
            </a:r>
            <a:r>
              <a:rPr dirty="0" sz="800" spc="215" b="1">
                <a:solidFill>
                  <a:srgbClr val="DF7B54"/>
                </a:solidFill>
                <a:latin typeface="Arial"/>
                <a:cs typeface="Arial"/>
              </a:rPr>
              <a:t> 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Your</a:t>
            </a:r>
            <a:r>
              <a:rPr dirty="0" sz="800" spc="-1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abdomen</a:t>
            </a:r>
            <a:r>
              <a:rPr dirty="0" sz="800" spc="-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was</a:t>
            </a:r>
            <a:r>
              <a:rPr dirty="0" sz="800" spc="-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soft</a:t>
            </a:r>
            <a:r>
              <a:rPr dirty="0" sz="800" spc="-1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and</a:t>
            </a:r>
            <a:r>
              <a:rPr dirty="0" sz="800" spc="-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without</a:t>
            </a:r>
            <a:r>
              <a:rPr dirty="0" sz="800" spc="-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tenderness,</a:t>
            </a:r>
            <a:r>
              <a:rPr dirty="0" sz="800" spc="-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and</a:t>
            </a:r>
            <a:r>
              <a:rPr dirty="0" sz="800" spc="-1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your</a:t>
            </a:r>
            <a:r>
              <a:rPr dirty="0" sz="800" spc="-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lungs</a:t>
            </a:r>
            <a:r>
              <a:rPr dirty="0" sz="800" spc="-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and</a:t>
            </a:r>
            <a:r>
              <a:rPr dirty="0" sz="800" spc="-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heart</a:t>
            </a:r>
            <a:r>
              <a:rPr dirty="0" sz="800" spc="-1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sounded</a:t>
            </a:r>
            <a:r>
              <a:rPr dirty="0" sz="800" spc="-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44444"/>
                </a:solidFill>
                <a:latin typeface="Arial MT"/>
                <a:cs typeface="Arial MT"/>
              </a:rPr>
              <a:t>normal.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92900" y="1171171"/>
            <a:ext cx="4402455" cy="650875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292100">
              <a:lnSpc>
                <a:spcPct val="100000"/>
              </a:lnSpc>
              <a:spcBef>
                <a:spcPts val="520"/>
              </a:spcBef>
            </a:pPr>
            <a:r>
              <a:rPr dirty="0" sz="750">
                <a:solidFill>
                  <a:srgbClr val="CC0000"/>
                </a:solidFill>
                <a:latin typeface="Symbol"/>
                <a:cs typeface="Symbol"/>
              </a:rPr>
              <a:t></a:t>
            </a:r>
            <a:r>
              <a:rPr dirty="0" sz="750" spc="2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dirty="0" sz="750" b="1">
                <a:solidFill>
                  <a:srgbClr val="CC0000"/>
                </a:solidFill>
                <a:latin typeface="Arial"/>
                <a:cs typeface="Arial"/>
              </a:rPr>
              <a:t>Contradicted (baseline </a:t>
            </a:r>
            <a:r>
              <a:rPr dirty="0" sz="750" spc="-10" b="1">
                <a:solidFill>
                  <a:srgbClr val="CC0000"/>
                </a:solidFill>
                <a:latin typeface="Arial"/>
                <a:cs typeface="Arial"/>
              </a:rPr>
              <a:t>hallucination)</a:t>
            </a:r>
            <a:endParaRPr sz="750">
              <a:latin typeface="Arial"/>
              <a:cs typeface="Arial"/>
            </a:endParaRPr>
          </a:p>
          <a:p>
            <a:pPr marL="292100" marR="5080" indent="-279400">
              <a:lnSpc>
                <a:spcPct val="114599"/>
              </a:lnSpc>
              <a:spcBef>
                <a:spcPts val="310"/>
              </a:spcBef>
            </a:pPr>
            <a:r>
              <a:rPr dirty="0" sz="800" b="1">
                <a:solidFill>
                  <a:srgbClr val="4B8AB5"/>
                </a:solidFill>
                <a:latin typeface="Arial"/>
                <a:cs typeface="Arial"/>
              </a:rPr>
              <a:t>E1:</a:t>
            </a:r>
            <a:r>
              <a:rPr dirty="0" sz="800" spc="220" b="1">
                <a:solidFill>
                  <a:srgbClr val="4B8AB5"/>
                </a:solidFill>
                <a:latin typeface="Arial"/>
                <a:cs typeface="Arial"/>
              </a:rPr>
              <a:t> 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You've</a:t>
            </a:r>
            <a:r>
              <a:rPr dirty="0" sz="800" spc="-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been</a:t>
            </a:r>
            <a:r>
              <a:rPr dirty="0" sz="800" spc="-1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experiencing</a:t>
            </a:r>
            <a:r>
              <a:rPr dirty="0" sz="800" spc="-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stomach</a:t>
            </a:r>
            <a:r>
              <a:rPr dirty="0" sz="800" spc="-1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pain</a:t>
            </a:r>
            <a:r>
              <a:rPr dirty="0" sz="800" spc="-1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with</a:t>
            </a:r>
            <a:r>
              <a:rPr dirty="0" sz="800" spc="-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most</a:t>
            </a:r>
            <a:r>
              <a:rPr dirty="0" sz="800" spc="-1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meals</a:t>
            </a:r>
            <a:r>
              <a:rPr dirty="0" sz="800" spc="-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for</a:t>
            </a:r>
            <a:r>
              <a:rPr dirty="0" sz="800" spc="-1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the</a:t>
            </a:r>
            <a:r>
              <a:rPr dirty="0" sz="800" spc="-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past</a:t>
            </a:r>
            <a:r>
              <a:rPr dirty="0" sz="800" spc="-1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year</a:t>
            </a:r>
            <a:r>
              <a:rPr dirty="0" sz="800" spc="-1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and</a:t>
            </a:r>
            <a:r>
              <a:rPr dirty="0" sz="800" spc="-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a</a:t>
            </a:r>
            <a:r>
              <a:rPr dirty="0" sz="800" spc="-1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half,</a:t>
            </a:r>
            <a:r>
              <a:rPr dirty="0" sz="800" spc="-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44444"/>
                </a:solidFill>
                <a:latin typeface="Arial MT"/>
                <a:cs typeface="Arial MT"/>
              </a:rPr>
              <a:t>along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with</a:t>
            </a:r>
            <a:r>
              <a:rPr dirty="0" sz="800" spc="-2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urinary</a:t>
            </a:r>
            <a:r>
              <a:rPr dirty="0" sz="800" spc="-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symptoms</a:t>
            </a:r>
            <a:r>
              <a:rPr dirty="0" sz="800" spc="-2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during</a:t>
            </a:r>
            <a:r>
              <a:rPr dirty="0" sz="800" spc="-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the</a:t>
            </a:r>
            <a:r>
              <a:rPr dirty="0" sz="800" spc="-2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same</a:t>
            </a:r>
            <a:r>
              <a:rPr dirty="0" sz="800" spc="-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time</a:t>
            </a:r>
            <a:r>
              <a:rPr dirty="0" sz="800" spc="-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44444"/>
                </a:solidFill>
                <a:latin typeface="Arial MT"/>
                <a:cs typeface="Arial MT"/>
              </a:rPr>
              <a:t>frame.</a:t>
            </a:r>
            <a:endParaRPr sz="800">
              <a:latin typeface="Arial MT"/>
              <a:cs typeface="Arial MT"/>
            </a:endParaRPr>
          </a:p>
          <a:p>
            <a:pPr marL="292100">
              <a:lnSpc>
                <a:spcPct val="100000"/>
              </a:lnSpc>
              <a:spcBef>
                <a:spcPts val="190"/>
              </a:spcBef>
            </a:pPr>
            <a:r>
              <a:rPr dirty="0" sz="750">
                <a:solidFill>
                  <a:srgbClr val="2A8C49"/>
                </a:solidFill>
                <a:latin typeface="Symbol"/>
                <a:cs typeface="Symbol"/>
              </a:rPr>
              <a:t></a:t>
            </a:r>
            <a:r>
              <a:rPr dirty="0" sz="750" spc="5">
                <a:solidFill>
                  <a:srgbClr val="2A8C49"/>
                </a:solidFill>
                <a:latin typeface="Times New Roman"/>
                <a:cs typeface="Times New Roman"/>
              </a:rPr>
              <a:t> </a:t>
            </a:r>
            <a:r>
              <a:rPr dirty="0" sz="750" b="1">
                <a:solidFill>
                  <a:srgbClr val="2A8C49"/>
                </a:solidFill>
                <a:latin typeface="Arial"/>
                <a:cs typeface="Arial"/>
              </a:rPr>
              <a:t>Supported</a:t>
            </a:r>
            <a:r>
              <a:rPr dirty="0" sz="750" spc="-15" b="1">
                <a:solidFill>
                  <a:srgbClr val="2A8C49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2A8C49"/>
                </a:solidFill>
                <a:latin typeface="Arial"/>
                <a:cs typeface="Arial"/>
              </a:rPr>
              <a:t>(RAG</a:t>
            </a:r>
            <a:r>
              <a:rPr dirty="0" sz="750" spc="-15" b="1">
                <a:solidFill>
                  <a:srgbClr val="2A8C49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2A8C49"/>
                </a:solidFill>
                <a:latin typeface="Arial"/>
                <a:cs typeface="Arial"/>
              </a:rPr>
              <a:t>grounded</a:t>
            </a:r>
            <a:r>
              <a:rPr dirty="0" sz="750" spc="-15" b="1">
                <a:solidFill>
                  <a:srgbClr val="2A8C49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2A8C49"/>
                </a:solidFill>
                <a:latin typeface="Arial"/>
                <a:cs typeface="Arial"/>
              </a:rPr>
              <a:t>the</a:t>
            </a:r>
            <a:r>
              <a:rPr dirty="0" sz="750" spc="-15" b="1">
                <a:solidFill>
                  <a:srgbClr val="2A8C49"/>
                </a:solidFill>
                <a:latin typeface="Arial"/>
                <a:cs typeface="Arial"/>
              </a:rPr>
              <a:t> </a:t>
            </a:r>
            <a:r>
              <a:rPr dirty="0" sz="750" spc="-10" b="1">
                <a:solidFill>
                  <a:srgbClr val="2A8C49"/>
                </a:solidFill>
                <a:latin typeface="Arial"/>
                <a:cs typeface="Arial"/>
              </a:rPr>
              <a:t>claim)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5463475" y="827874"/>
            <a:ext cx="4734560" cy="1987550"/>
            <a:chOff x="5463475" y="827874"/>
            <a:chExt cx="4734560" cy="1987550"/>
          </a:xfrm>
        </p:grpSpPr>
        <p:sp>
          <p:nvSpPr>
            <p:cNvPr id="10" name="object 10" descr=""/>
            <p:cNvSpPr/>
            <p:nvPr/>
          </p:nvSpPr>
          <p:spPr>
            <a:xfrm>
              <a:off x="5473000" y="837399"/>
              <a:ext cx="4715510" cy="1968500"/>
            </a:xfrm>
            <a:custGeom>
              <a:avLst/>
              <a:gdLst/>
              <a:ahLst/>
              <a:cxnLst/>
              <a:rect l="l" t="t" r="r" b="b"/>
              <a:pathLst>
                <a:path w="4715509" h="1968500">
                  <a:moveTo>
                    <a:pt x="76200" y="1968500"/>
                  </a:moveTo>
                  <a:lnTo>
                    <a:pt x="4638799" y="1968500"/>
                  </a:lnTo>
                  <a:lnTo>
                    <a:pt x="4668476" y="1962517"/>
                  </a:lnTo>
                  <a:lnTo>
                    <a:pt x="4692695" y="1946196"/>
                  </a:lnTo>
                  <a:lnTo>
                    <a:pt x="4709016" y="1921977"/>
                  </a:lnTo>
                  <a:lnTo>
                    <a:pt x="4714999" y="1892300"/>
                  </a:lnTo>
                  <a:lnTo>
                    <a:pt x="4714999" y="76200"/>
                  </a:lnTo>
                  <a:lnTo>
                    <a:pt x="4709016" y="46522"/>
                  </a:lnTo>
                  <a:lnTo>
                    <a:pt x="4692695" y="22303"/>
                  </a:lnTo>
                  <a:lnTo>
                    <a:pt x="4668476" y="5982"/>
                  </a:lnTo>
                  <a:lnTo>
                    <a:pt x="4638799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1892300"/>
                  </a:lnTo>
                  <a:lnTo>
                    <a:pt x="5982" y="1921977"/>
                  </a:lnTo>
                  <a:lnTo>
                    <a:pt x="22303" y="1946196"/>
                  </a:lnTo>
                  <a:lnTo>
                    <a:pt x="46522" y="1962517"/>
                  </a:lnTo>
                  <a:lnTo>
                    <a:pt x="76200" y="1968500"/>
                  </a:lnTo>
                  <a:close/>
                </a:path>
              </a:pathLst>
            </a:custGeom>
            <a:ln w="19050">
              <a:solidFill>
                <a:srgbClr val="CC44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472988" y="837406"/>
              <a:ext cx="4715510" cy="317500"/>
            </a:xfrm>
            <a:custGeom>
              <a:avLst/>
              <a:gdLst/>
              <a:ahLst/>
              <a:cxnLst/>
              <a:rect l="l" t="t" r="r" b="b"/>
              <a:pathLst>
                <a:path w="4715509" h="317500">
                  <a:moveTo>
                    <a:pt x="4715002" y="76200"/>
                  </a:moveTo>
                  <a:lnTo>
                    <a:pt x="4709020" y="46520"/>
                  </a:lnTo>
                  <a:lnTo>
                    <a:pt x="4692701" y="22301"/>
                  </a:lnTo>
                  <a:lnTo>
                    <a:pt x="4668482" y="5981"/>
                  </a:lnTo>
                  <a:lnTo>
                    <a:pt x="4638802" y="0"/>
                  </a:lnTo>
                  <a:lnTo>
                    <a:pt x="76200" y="0"/>
                  </a:lnTo>
                  <a:lnTo>
                    <a:pt x="46532" y="5981"/>
                  </a:lnTo>
                  <a:lnTo>
                    <a:pt x="22313" y="22301"/>
                  </a:lnTo>
                  <a:lnTo>
                    <a:pt x="5981" y="46520"/>
                  </a:lnTo>
                  <a:lnTo>
                    <a:pt x="0" y="76200"/>
                  </a:lnTo>
                  <a:lnTo>
                    <a:pt x="0" y="177800"/>
                  </a:lnTo>
                  <a:lnTo>
                    <a:pt x="2552" y="190500"/>
                  </a:lnTo>
                  <a:lnTo>
                    <a:pt x="0" y="190500"/>
                  </a:lnTo>
                  <a:lnTo>
                    <a:pt x="0" y="317500"/>
                  </a:lnTo>
                  <a:lnTo>
                    <a:pt x="4715002" y="317500"/>
                  </a:lnTo>
                  <a:lnTo>
                    <a:pt x="4715002" y="190500"/>
                  </a:lnTo>
                  <a:lnTo>
                    <a:pt x="4712436" y="190500"/>
                  </a:lnTo>
                  <a:lnTo>
                    <a:pt x="4715002" y="177800"/>
                  </a:lnTo>
                  <a:lnTo>
                    <a:pt x="4715002" y="76200"/>
                  </a:lnTo>
                  <a:close/>
                </a:path>
              </a:pathLst>
            </a:custGeom>
            <a:solidFill>
              <a:srgbClr val="CC444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6359685" y="881849"/>
            <a:ext cx="294195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b="1">
                <a:solidFill>
                  <a:srgbClr val="FFFFFF"/>
                </a:solidFill>
                <a:latin typeface="Arial"/>
                <a:cs typeface="Arial"/>
              </a:rPr>
              <a:t>Persistent</a:t>
            </a:r>
            <a:r>
              <a:rPr dirty="0" sz="95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FFFFF"/>
                </a:solidFill>
                <a:latin typeface="Arial"/>
                <a:cs typeface="Arial"/>
              </a:rPr>
              <a:t>Hallucination:</a:t>
            </a:r>
            <a:r>
              <a:rPr dirty="0" sz="95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FFFFF"/>
                </a:solidFill>
                <a:latin typeface="Arial"/>
                <a:cs typeface="Arial"/>
              </a:rPr>
              <a:t>Not-Supported in</a:t>
            </a:r>
            <a:r>
              <a:rPr dirty="0" sz="95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FFFFF"/>
                </a:solidFill>
                <a:latin typeface="Arial"/>
                <a:cs typeface="Arial"/>
              </a:rPr>
              <a:t>E0</a:t>
            </a:r>
            <a:r>
              <a:rPr dirty="0" sz="95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FFFFF"/>
                </a:solidFill>
                <a:latin typeface="Arial"/>
                <a:cs typeface="Arial"/>
              </a:rPr>
              <a:t>&amp; </a:t>
            </a:r>
            <a:r>
              <a:rPr dirty="0" sz="950" spc="-25" b="1">
                <a:solidFill>
                  <a:srgbClr val="FFFFFF"/>
                </a:solidFill>
                <a:latin typeface="Arial"/>
                <a:cs typeface="Arial"/>
              </a:rPr>
              <a:t>E1</a:t>
            </a:r>
            <a:endParaRPr sz="95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Hallucination Evaluation in LLM-Based Medical Summarization</a:t>
            </a:r>
            <a:r>
              <a:rPr dirty="0" spc="204"/>
              <a:t> </a:t>
            </a:r>
            <a:r>
              <a:rPr dirty="0"/>
              <a:t>·</a:t>
            </a:r>
            <a:r>
              <a:rPr dirty="0" spc="200"/>
              <a:t> </a:t>
            </a:r>
            <a:r>
              <a:rPr dirty="0"/>
              <a:t>CSUN Comp</a:t>
            </a:r>
            <a:r>
              <a:rPr dirty="0" spc="5"/>
              <a:t> </a:t>
            </a:r>
            <a:r>
              <a:rPr dirty="0"/>
              <a:t>696C</a:t>
            </a:r>
            <a:r>
              <a:rPr dirty="0" spc="200"/>
              <a:t> </a:t>
            </a:r>
            <a:r>
              <a:rPr dirty="0"/>
              <a:t>·</a:t>
            </a:r>
            <a:r>
              <a:rPr dirty="0" spc="200"/>
              <a:t> </a:t>
            </a:r>
            <a:r>
              <a:rPr dirty="0"/>
              <a:t>April</a:t>
            </a:r>
            <a:r>
              <a:rPr dirty="0" spc="5"/>
              <a:t> </a:t>
            </a:r>
            <a:r>
              <a:rPr dirty="0" spc="-20"/>
              <a:t>2026</a:t>
            </a: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/>
              <a:t>10</a:t>
            </a:fld>
            <a:r>
              <a:rPr dirty="0" spc="-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 spc="-25"/>
              <a:t>10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5561900" y="1078699"/>
            <a:ext cx="438848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DF7B54"/>
                </a:solidFill>
                <a:latin typeface="Arial"/>
                <a:cs typeface="Arial"/>
              </a:rPr>
              <a:t>E0:</a:t>
            </a:r>
            <a:r>
              <a:rPr dirty="0" sz="800" spc="215" b="1">
                <a:solidFill>
                  <a:srgbClr val="DF7B54"/>
                </a:solidFill>
                <a:latin typeface="Arial"/>
                <a:cs typeface="Arial"/>
              </a:rPr>
              <a:t> 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You</a:t>
            </a:r>
            <a:r>
              <a:rPr dirty="0" sz="800" spc="-1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visited</a:t>
            </a:r>
            <a:r>
              <a:rPr dirty="0" sz="800" spc="-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today</a:t>
            </a:r>
            <a:r>
              <a:rPr dirty="0" sz="800" spc="-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due</a:t>
            </a:r>
            <a:r>
              <a:rPr dirty="0" sz="800" spc="-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to</a:t>
            </a:r>
            <a:r>
              <a:rPr dirty="0" sz="800" spc="-1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concerns</a:t>
            </a:r>
            <a:r>
              <a:rPr dirty="0" sz="800" spc="-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about</a:t>
            </a:r>
            <a:r>
              <a:rPr dirty="0" sz="800" spc="-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your</a:t>
            </a:r>
            <a:r>
              <a:rPr dirty="0" sz="800" spc="-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menstrual</a:t>
            </a:r>
            <a:r>
              <a:rPr dirty="0" sz="800" spc="-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periods</a:t>
            </a:r>
            <a:r>
              <a:rPr dirty="0" sz="800" spc="-1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and</a:t>
            </a:r>
            <a:r>
              <a:rPr dirty="0" sz="800" spc="-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a</a:t>
            </a:r>
            <a:r>
              <a:rPr dirty="0" sz="800" spc="-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possible</a:t>
            </a:r>
            <a:r>
              <a:rPr dirty="0" sz="800" spc="-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44444"/>
                </a:solidFill>
                <a:latin typeface="Arial MT"/>
                <a:cs typeface="Arial MT"/>
              </a:rPr>
              <a:t>pregnancy.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561900" y="1171171"/>
            <a:ext cx="4439285" cy="511175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292100">
              <a:lnSpc>
                <a:spcPct val="100000"/>
              </a:lnSpc>
              <a:spcBef>
                <a:spcPts val="520"/>
              </a:spcBef>
            </a:pPr>
            <a:r>
              <a:rPr dirty="0" sz="750">
                <a:solidFill>
                  <a:srgbClr val="CC0000"/>
                </a:solidFill>
                <a:latin typeface="Symbol"/>
                <a:cs typeface="Symbol"/>
              </a:rPr>
              <a:t></a:t>
            </a:r>
            <a:r>
              <a:rPr dirty="0" sz="750" spc="1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dirty="0" sz="750" spc="-10" b="1">
                <a:solidFill>
                  <a:srgbClr val="CC0000"/>
                </a:solidFill>
                <a:latin typeface="Arial"/>
                <a:cs typeface="Arial"/>
              </a:rPr>
              <a:t>Not-</a:t>
            </a:r>
            <a:r>
              <a:rPr dirty="0" sz="750" b="1">
                <a:solidFill>
                  <a:srgbClr val="CC0000"/>
                </a:solidFill>
                <a:latin typeface="Arial"/>
                <a:cs typeface="Arial"/>
              </a:rPr>
              <a:t>Supported</a:t>
            </a:r>
            <a:r>
              <a:rPr dirty="0" sz="750" spc="-10" b="1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CC0000"/>
                </a:solidFill>
                <a:latin typeface="Arial"/>
                <a:cs typeface="Arial"/>
              </a:rPr>
              <a:t>in</a:t>
            </a:r>
            <a:r>
              <a:rPr dirty="0" sz="750" spc="-10" b="1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dirty="0" sz="750" spc="-25" b="1">
                <a:solidFill>
                  <a:srgbClr val="CC0000"/>
                </a:solidFill>
                <a:latin typeface="Arial"/>
                <a:cs typeface="Arial"/>
              </a:rPr>
              <a:t>E0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800" b="1">
                <a:solidFill>
                  <a:srgbClr val="4B8AB5"/>
                </a:solidFill>
                <a:latin typeface="Arial"/>
                <a:cs typeface="Arial"/>
              </a:rPr>
              <a:t>E1:</a:t>
            </a:r>
            <a:r>
              <a:rPr dirty="0" sz="800" spc="215" b="1">
                <a:solidFill>
                  <a:srgbClr val="4B8AB5"/>
                </a:solidFill>
                <a:latin typeface="Arial"/>
                <a:cs typeface="Arial"/>
              </a:rPr>
              <a:t> 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You</a:t>
            </a:r>
            <a:r>
              <a:rPr dirty="0" sz="800" spc="-1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visited</a:t>
            </a:r>
            <a:r>
              <a:rPr dirty="0" sz="800" spc="-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us</a:t>
            </a:r>
            <a:r>
              <a:rPr dirty="0" sz="800" spc="-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today</a:t>
            </a:r>
            <a:r>
              <a:rPr dirty="0" sz="800" spc="-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due</a:t>
            </a:r>
            <a:r>
              <a:rPr dirty="0" sz="800" spc="-1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to</a:t>
            </a:r>
            <a:r>
              <a:rPr dirty="0" sz="800" spc="-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concerns</a:t>
            </a:r>
            <a:r>
              <a:rPr dirty="0" sz="800" spc="-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about</a:t>
            </a:r>
            <a:r>
              <a:rPr dirty="0" sz="800" spc="-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your</a:t>
            </a:r>
            <a:r>
              <a:rPr dirty="0" sz="800" spc="-1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menstrual</a:t>
            </a:r>
            <a:r>
              <a:rPr dirty="0" sz="800" spc="-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periods</a:t>
            </a:r>
            <a:r>
              <a:rPr dirty="0" sz="800" spc="-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and</a:t>
            </a:r>
            <a:r>
              <a:rPr dirty="0" sz="800" spc="-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possible</a:t>
            </a:r>
            <a:r>
              <a:rPr dirty="0" sz="800" spc="-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44444"/>
                </a:solidFill>
                <a:latin typeface="Arial MT"/>
                <a:cs typeface="Arial MT"/>
              </a:rPr>
              <a:t>pregnancy.</a:t>
            </a:r>
            <a:endParaRPr sz="800">
              <a:latin typeface="Arial MT"/>
              <a:cs typeface="Arial MT"/>
            </a:endParaRPr>
          </a:p>
          <a:p>
            <a:pPr marL="292100">
              <a:lnSpc>
                <a:spcPct val="100000"/>
              </a:lnSpc>
              <a:spcBef>
                <a:spcPts val="190"/>
              </a:spcBef>
            </a:pPr>
            <a:r>
              <a:rPr dirty="0" sz="750">
                <a:solidFill>
                  <a:srgbClr val="2A8C49"/>
                </a:solidFill>
                <a:latin typeface="Symbol"/>
                <a:cs typeface="Symbol"/>
              </a:rPr>
              <a:t></a:t>
            </a:r>
            <a:r>
              <a:rPr dirty="0" sz="750" spc="10">
                <a:solidFill>
                  <a:srgbClr val="2A8C49"/>
                </a:solidFill>
                <a:latin typeface="Times New Roman"/>
                <a:cs typeface="Times New Roman"/>
              </a:rPr>
              <a:t> </a:t>
            </a:r>
            <a:r>
              <a:rPr dirty="0" sz="750" spc="-10" b="1">
                <a:solidFill>
                  <a:srgbClr val="2A8C49"/>
                </a:solidFill>
                <a:latin typeface="Arial"/>
                <a:cs typeface="Arial"/>
              </a:rPr>
              <a:t>Not-</a:t>
            </a:r>
            <a:r>
              <a:rPr dirty="0" sz="750" b="1">
                <a:solidFill>
                  <a:srgbClr val="2A8C49"/>
                </a:solidFill>
                <a:latin typeface="Arial"/>
                <a:cs typeface="Arial"/>
              </a:rPr>
              <a:t>Supported</a:t>
            </a:r>
            <a:r>
              <a:rPr dirty="0" sz="750" spc="-5" b="1">
                <a:solidFill>
                  <a:srgbClr val="2A8C49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2A8C49"/>
                </a:solidFill>
                <a:latin typeface="Arial"/>
                <a:cs typeface="Arial"/>
              </a:rPr>
              <a:t>in</a:t>
            </a:r>
            <a:r>
              <a:rPr dirty="0" sz="750" spc="-10" b="1">
                <a:solidFill>
                  <a:srgbClr val="2A8C49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2A8C49"/>
                </a:solidFill>
                <a:latin typeface="Arial"/>
                <a:cs typeface="Arial"/>
              </a:rPr>
              <a:t>E1</a:t>
            </a:r>
            <a:r>
              <a:rPr dirty="0" sz="750" spc="195" b="1">
                <a:solidFill>
                  <a:srgbClr val="2A8C49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2A8C49"/>
                </a:solidFill>
                <a:latin typeface="Arial"/>
                <a:cs typeface="Arial"/>
              </a:rPr>
              <a:t>(RAG</a:t>
            </a:r>
            <a:r>
              <a:rPr dirty="0" sz="750" spc="-5" b="1">
                <a:solidFill>
                  <a:srgbClr val="2A8C49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2A8C49"/>
                </a:solidFill>
                <a:latin typeface="Arial"/>
                <a:cs typeface="Arial"/>
              </a:rPr>
              <a:t>did</a:t>
            </a:r>
            <a:r>
              <a:rPr dirty="0" sz="750" spc="-10" b="1">
                <a:solidFill>
                  <a:srgbClr val="2A8C49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2A8C49"/>
                </a:solidFill>
                <a:latin typeface="Arial"/>
                <a:cs typeface="Arial"/>
              </a:rPr>
              <a:t>not</a:t>
            </a:r>
            <a:r>
              <a:rPr dirty="0" sz="750" spc="-5" b="1">
                <a:solidFill>
                  <a:srgbClr val="2A8C49"/>
                </a:solidFill>
                <a:latin typeface="Arial"/>
                <a:cs typeface="Arial"/>
              </a:rPr>
              <a:t> </a:t>
            </a:r>
            <a:r>
              <a:rPr dirty="0" sz="750" spc="-10" b="1">
                <a:solidFill>
                  <a:srgbClr val="2A8C49"/>
                </a:solidFill>
                <a:latin typeface="Arial"/>
                <a:cs typeface="Arial"/>
              </a:rPr>
              <a:t>help)</a:t>
            </a:r>
            <a:endParaRPr sz="75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91300" y="2831299"/>
            <a:ext cx="9803130" cy="594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100" spc="-10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Interpretation</a:t>
            </a:r>
            <a:endParaRPr sz="1100">
              <a:latin typeface="Arial"/>
              <a:cs typeface="Arial"/>
            </a:endParaRPr>
          </a:p>
          <a:p>
            <a:pPr marL="190500" marR="5080">
              <a:lnSpc>
                <a:spcPct val="111100"/>
              </a:lnSpc>
              <a:spcBef>
                <a:spcPts val="760"/>
              </a:spcBef>
            </a:pP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RAG eliminates contradictions by anchoring the model to retrieved excerpts. However, claims that reference follow-up instructions, future events, or context not present in any retrieved </a:t>
            </a:r>
            <a:r>
              <a:rPr dirty="0" sz="900" spc="-10">
                <a:solidFill>
                  <a:srgbClr val="444444"/>
                </a:solidFill>
                <a:latin typeface="Arial MT"/>
                <a:cs typeface="Arial MT"/>
              </a:rPr>
              <a:t>chunk </a:t>
            </a: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remain Not-Supported in both conditions — suggesting a retrieval coverage gap rather than a generation defect. E3 (verification prompting) targets these residual </a:t>
            </a:r>
            <a:r>
              <a:rPr dirty="0" sz="900" spc="-10">
                <a:solidFill>
                  <a:srgbClr val="444444"/>
                </a:solidFill>
                <a:latin typeface="Arial MT"/>
                <a:cs typeface="Arial MT"/>
              </a:rPr>
              <a:t>failures.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983417" y="126599"/>
            <a:ext cx="272542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Next</a:t>
            </a:r>
            <a:r>
              <a:rPr dirty="0" sz="15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Steps</a:t>
            </a:r>
            <a:r>
              <a:rPr dirty="0" sz="15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15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Semester</a:t>
            </a:r>
            <a:r>
              <a:rPr dirty="0" sz="15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sz="15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Plan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91300" y="684999"/>
            <a:ext cx="174942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100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Immediate</a:t>
            </a:r>
            <a:r>
              <a:rPr dirty="0" u="heavy" sz="1100" spc="-15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100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(Next</a:t>
            </a:r>
            <a:r>
              <a:rPr dirty="0" u="heavy" sz="1100" spc="-10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100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4</a:t>
            </a:r>
            <a:r>
              <a:rPr dirty="0" u="heavy" sz="1100" spc="-10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 Weeks)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91300" y="898359"/>
            <a:ext cx="4537075" cy="838200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189865" algn="l"/>
              </a:tabLst>
            </a:pP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Await PhysioNet</a:t>
            </a:r>
            <a:r>
              <a:rPr dirty="0" sz="900" spc="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credentialing approval</a:t>
            </a:r>
            <a:r>
              <a:rPr dirty="0" sz="900" spc="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and migrate</a:t>
            </a:r>
            <a:r>
              <a:rPr dirty="0" sz="900" spc="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pipeline to</a:t>
            </a:r>
            <a:r>
              <a:rPr dirty="0" sz="900" spc="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444444"/>
                </a:solidFill>
                <a:latin typeface="Arial MT"/>
                <a:cs typeface="Arial MT"/>
              </a:rPr>
              <a:t>MIMIC-</a:t>
            </a: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III </a:t>
            </a:r>
            <a:r>
              <a:rPr dirty="0" sz="900" spc="-10">
                <a:solidFill>
                  <a:srgbClr val="444444"/>
                </a:solidFill>
                <a:latin typeface="Arial MT"/>
                <a:cs typeface="Arial MT"/>
              </a:rPr>
              <a:t>notes.</a:t>
            </a:r>
            <a:endParaRPr sz="900">
              <a:latin typeface="Arial MT"/>
              <a:cs typeface="Arial MT"/>
            </a:endParaRPr>
          </a:p>
          <a:p>
            <a:pPr marL="189865" indent="-177165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189865" algn="l"/>
              </a:tabLst>
            </a:pP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Obtain ann-pt-summ annotated dataset; compute inter-annotator agreement </a:t>
            </a:r>
            <a:r>
              <a:rPr dirty="0" sz="900" spc="-10">
                <a:solidFill>
                  <a:srgbClr val="444444"/>
                </a:solidFill>
                <a:latin typeface="Arial MT"/>
                <a:cs typeface="Arial MT"/>
              </a:rPr>
              <a:t>baseline.</a:t>
            </a:r>
            <a:endParaRPr sz="900">
              <a:latin typeface="Arial MT"/>
              <a:cs typeface="Arial MT"/>
            </a:endParaRPr>
          </a:p>
          <a:p>
            <a:pPr marL="189865" indent="-177165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189865" algn="l"/>
              </a:tabLst>
            </a:pP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Run</a:t>
            </a:r>
            <a:r>
              <a:rPr dirty="0" sz="9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E3 — Chain-of-Verification prompting on</a:t>
            </a:r>
            <a:r>
              <a:rPr dirty="0" sz="9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E0 outputs; measure </a:t>
            </a:r>
            <a:r>
              <a:rPr dirty="0" sz="900">
                <a:solidFill>
                  <a:srgbClr val="444444"/>
                </a:solidFill>
                <a:latin typeface="Symbol"/>
                <a:cs typeface="Symbol"/>
              </a:rPr>
              <a:t></a:t>
            </a: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CR</a:t>
            </a:r>
            <a:r>
              <a:rPr dirty="0" sz="9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and</a:t>
            </a:r>
            <a:r>
              <a:rPr dirty="0" sz="9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444444"/>
                </a:solidFill>
                <a:latin typeface="Symbol"/>
                <a:cs typeface="Symbol"/>
              </a:rPr>
              <a:t></a:t>
            </a:r>
            <a:r>
              <a:rPr dirty="0" sz="900" spc="-10">
                <a:solidFill>
                  <a:srgbClr val="444444"/>
                </a:solidFill>
                <a:latin typeface="Arial MT"/>
                <a:cs typeface="Arial MT"/>
              </a:rPr>
              <a:t>UFR.</a:t>
            </a:r>
            <a:endParaRPr sz="900">
              <a:latin typeface="Arial MT"/>
              <a:cs typeface="Arial MT"/>
            </a:endParaRPr>
          </a:p>
          <a:p>
            <a:pPr marL="189865" indent="-177165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189865" algn="l"/>
              </a:tabLst>
            </a:pP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Begin qualitative error taxonomy: categorize persistent Not-Supported claims by </a:t>
            </a:r>
            <a:r>
              <a:rPr dirty="0" sz="900" spc="-10">
                <a:solidFill>
                  <a:srgbClr val="444444"/>
                </a:solidFill>
                <a:latin typeface="Arial MT"/>
                <a:cs typeface="Arial MT"/>
              </a:rPr>
              <a:t>type.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460300" y="684999"/>
            <a:ext cx="215265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100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Thesis</a:t>
            </a:r>
            <a:r>
              <a:rPr dirty="0" u="heavy" sz="1100" spc="-15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100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Completion</a:t>
            </a:r>
            <a:r>
              <a:rPr dirty="0" u="heavy" sz="1100" spc="-15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100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(Semester</a:t>
            </a:r>
            <a:r>
              <a:rPr dirty="0" u="heavy" sz="1100" spc="-15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100" spc="-25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2)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460300" y="898359"/>
            <a:ext cx="3964304" cy="1041400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189865" algn="l"/>
              </a:tabLst>
            </a:pP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Chapter 2 — Literature Review (LLM hallucinations, RAG, NLI </a:t>
            </a:r>
            <a:r>
              <a:rPr dirty="0" sz="900" spc="-10">
                <a:solidFill>
                  <a:srgbClr val="444444"/>
                </a:solidFill>
                <a:latin typeface="Arial MT"/>
                <a:cs typeface="Arial MT"/>
              </a:rPr>
              <a:t>evaluation).</a:t>
            </a:r>
            <a:endParaRPr sz="900">
              <a:latin typeface="Arial MT"/>
              <a:cs typeface="Arial MT"/>
            </a:endParaRPr>
          </a:p>
          <a:p>
            <a:pPr marL="189865" indent="-177165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189865" algn="l"/>
              </a:tabLst>
            </a:pP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Chapter</a:t>
            </a:r>
            <a:r>
              <a:rPr dirty="0" sz="9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3</a:t>
            </a:r>
            <a:r>
              <a:rPr dirty="0" sz="9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— Methodology</a:t>
            </a:r>
            <a:r>
              <a:rPr dirty="0" sz="9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(finalize with</a:t>
            </a:r>
            <a:r>
              <a:rPr dirty="0" sz="9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MIMIC</a:t>
            </a:r>
            <a:r>
              <a:rPr dirty="0" sz="9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results if</a:t>
            </a:r>
            <a:r>
              <a:rPr dirty="0" sz="9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444444"/>
                </a:solidFill>
                <a:latin typeface="Arial MT"/>
                <a:cs typeface="Arial MT"/>
              </a:rPr>
              <a:t>available).</a:t>
            </a:r>
            <a:endParaRPr sz="900">
              <a:latin typeface="Arial MT"/>
              <a:cs typeface="Arial MT"/>
            </a:endParaRPr>
          </a:p>
          <a:p>
            <a:pPr marL="189865" indent="-177165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189865" algn="l"/>
              </a:tabLst>
            </a:pP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Chapter 4 — Results (quantitative + qualitative findings for all </a:t>
            </a:r>
            <a:r>
              <a:rPr dirty="0" sz="900" spc="-10">
                <a:solidFill>
                  <a:srgbClr val="444444"/>
                </a:solidFill>
                <a:latin typeface="Arial MT"/>
                <a:cs typeface="Arial MT"/>
              </a:rPr>
              <a:t>conditions).</a:t>
            </a:r>
            <a:endParaRPr sz="900">
              <a:latin typeface="Arial MT"/>
              <a:cs typeface="Arial MT"/>
            </a:endParaRPr>
          </a:p>
          <a:p>
            <a:pPr marL="189865" indent="-177165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189865" algn="l"/>
              </a:tabLst>
            </a:pP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Chapter 5 — Discussion: limitations, future work, clinical </a:t>
            </a:r>
            <a:r>
              <a:rPr dirty="0" sz="900" spc="-10">
                <a:solidFill>
                  <a:srgbClr val="444444"/>
                </a:solidFill>
                <a:latin typeface="Arial MT"/>
                <a:cs typeface="Arial MT"/>
              </a:rPr>
              <a:t>implications.</a:t>
            </a:r>
            <a:endParaRPr sz="900">
              <a:latin typeface="Arial MT"/>
              <a:cs typeface="Arial MT"/>
            </a:endParaRPr>
          </a:p>
          <a:p>
            <a:pPr marL="189865" indent="-177165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189865" algn="l"/>
              </a:tabLst>
            </a:pPr>
            <a:r>
              <a:rPr dirty="0" sz="900">
                <a:solidFill>
                  <a:srgbClr val="444444"/>
                </a:solidFill>
                <a:latin typeface="Arial MT"/>
                <a:cs typeface="Arial MT"/>
              </a:rPr>
              <a:t>Committee review, defense preparation, and final </a:t>
            </a:r>
            <a:r>
              <a:rPr dirty="0" sz="900" spc="-10">
                <a:solidFill>
                  <a:srgbClr val="444444"/>
                </a:solidFill>
                <a:latin typeface="Arial MT"/>
                <a:cs typeface="Arial MT"/>
              </a:rPr>
              <a:t>submission.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91300" y="2208999"/>
            <a:ext cx="59245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100" spc="-10" b="1">
                <a:solidFill>
                  <a:srgbClr val="572B82"/>
                </a:solidFill>
                <a:uFill>
                  <a:solidFill>
                    <a:srgbClr val="F2A800"/>
                  </a:solidFill>
                </a:uFill>
                <a:latin typeface="Arial"/>
                <a:cs typeface="Arial"/>
              </a:rPr>
              <a:t>Timeline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557975" y="2745574"/>
            <a:ext cx="9516110" cy="146050"/>
            <a:chOff x="557975" y="2745574"/>
            <a:chExt cx="9516110" cy="146050"/>
          </a:xfrm>
        </p:grpSpPr>
        <p:sp>
          <p:nvSpPr>
            <p:cNvPr id="9" name="object 9" descr=""/>
            <p:cNvSpPr/>
            <p:nvPr/>
          </p:nvSpPr>
          <p:spPr>
            <a:xfrm>
              <a:off x="631000" y="2818599"/>
              <a:ext cx="9430385" cy="0"/>
            </a:xfrm>
            <a:custGeom>
              <a:avLst/>
              <a:gdLst/>
              <a:ahLst/>
              <a:cxnLst/>
              <a:rect l="l" t="t" r="r" b="b"/>
              <a:pathLst>
                <a:path w="9430385" h="0">
                  <a:moveTo>
                    <a:pt x="0" y="0"/>
                  </a:moveTo>
                  <a:lnTo>
                    <a:pt x="9429999" y="0"/>
                  </a:lnTo>
                </a:path>
              </a:pathLst>
            </a:custGeom>
            <a:ln w="25400">
              <a:solidFill>
                <a:srgbClr val="572B8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7975" y="2745574"/>
              <a:ext cx="146050" cy="146050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511061" y="2577299"/>
            <a:ext cx="240029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 b="1">
                <a:solidFill>
                  <a:srgbClr val="572B82"/>
                </a:solidFill>
                <a:latin typeface="Arial"/>
                <a:cs typeface="Arial"/>
              </a:rPr>
              <a:t>Now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14512" y="2875749"/>
            <a:ext cx="433070" cy="27940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200"/>
              </a:spcBef>
            </a:pPr>
            <a:r>
              <a:rPr dirty="0" sz="750" spc="-10">
                <a:solidFill>
                  <a:srgbClr val="444444"/>
                </a:solidFill>
                <a:latin typeface="Arial MT"/>
                <a:cs typeface="Arial MT"/>
              </a:rPr>
              <a:t>E0/E1/E2</a:t>
            </a:r>
            <a:endParaRPr sz="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solidFill>
                  <a:srgbClr val="444444"/>
                </a:solidFill>
                <a:latin typeface="Arial MT"/>
                <a:cs typeface="Arial MT"/>
              </a:rPr>
              <a:t>Complete</a:t>
            </a:r>
            <a:endParaRPr sz="750">
              <a:latin typeface="Arial MT"/>
              <a:cs typeface="Arial MT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43975" y="2745574"/>
            <a:ext cx="146050" cy="146050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2405494" y="2577299"/>
            <a:ext cx="22352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 b="1">
                <a:solidFill>
                  <a:srgbClr val="572B82"/>
                </a:solidFill>
                <a:latin typeface="Arial"/>
                <a:cs typeface="Arial"/>
              </a:rPr>
              <a:t>May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268746" y="2875749"/>
            <a:ext cx="497205" cy="279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4450">
              <a:lnSpc>
                <a:spcPct val="111100"/>
              </a:lnSpc>
              <a:spcBef>
                <a:spcPts val="100"/>
              </a:spcBef>
            </a:pPr>
            <a:r>
              <a:rPr dirty="0" sz="750">
                <a:solidFill>
                  <a:srgbClr val="444444"/>
                </a:solidFill>
                <a:latin typeface="Arial MT"/>
                <a:cs typeface="Arial MT"/>
              </a:rPr>
              <a:t>E3 </a:t>
            </a:r>
            <a:r>
              <a:rPr dirty="0" sz="750" spc="-20">
                <a:solidFill>
                  <a:srgbClr val="444444"/>
                </a:solidFill>
                <a:latin typeface="Arial MT"/>
                <a:cs typeface="Arial MT"/>
              </a:rPr>
              <a:t>CoVe</a:t>
            </a:r>
            <a:r>
              <a:rPr dirty="0" sz="750" spc="-10">
                <a:solidFill>
                  <a:srgbClr val="444444"/>
                </a:solidFill>
                <a:latin typeface="Arial MT"/>
                <a:cs typeface="Arial MT"/>
              </a:rPr>
              <a:t> Verification</a:t>
            </a:r>
            <a:endParaRPr sz="750">
              <a:latin typeface="Arial MT"/>
              <a:cs typeface="Arial MT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29974" y="2745574"/>
            <a:ext cx="146050" cy="146050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4299977" y="2577299"/>
            <a:ext cx="20637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 b="1">
                <a:solidFill>
                  <a:srgbClr val="572B82"/>
                </a:solidFill>
                <a:latin typeface="Arial"/>
                <a:cs typeface="Arial"/>
              </a:rPr>
              <a:t>Jun</a:t>
            </a:r>
            <a:endParaRPr sz="80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173273" y="2875749"/>
            <a:ext cx="459740" cy="279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" marR="5080" indent="-21590">
              <a:lnSpc>
                <a:spcPct val="111100"/>
              </a:lnSpc>
              <a:spcBef>
                <a:spcPts val="100"/>
              </a:spcBef>
            </a:pPr>
            <a:r>
              <a:rPr dirty="0" sz="750" spc="-10">
                <a:solidFill>
                  <a:srgbClr val="444444"/>
                </a:solidFill>
                <a:latin typeface="Arial MT"/>
                <a:cs typeface="Arial MT"/>
              </a:rPr>
              <a:t>PhysioNet Migration</a:t>
            </a:r>
            <a:endParaRPr sz="750">
              <a:latin typeface="Arial MT"/>
              <a:cs typeface="Arial MT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15975" y="2745574"/>
            <a:ext cx="146050" cy="146050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6177545" y="2577299"/>
            <a:ext cx="22352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 b="1">
                <a:solidFill>
                  <a:srgbClr val="572B82"/>
                </a:solidFill>
                <a:latin typeface="Arial"/>
                <a:cs typeface="Arial"/>
              </a:rPr>
              <a:t>Aug</a:t>
            </a:r>
            <a:endParaRPr sz="80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083085" y="2875749"/>
            <a:ext cx="412115" cy="279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89535">
              <a:lnSpc>
                <a:spcPct val="111100"/>
              </a:lnSpc>
              <a:spcBef>
                <a:spcPts val="100"/>
              </a:spcBef>
            </a:pPr>
            <a:r>
              <a:rPr dirty="0" sz="750" spc="-10">
                <a:solidFill>
                  <a:srgbClr val="444444"/>
                </a:solidFill>
                <a:latin typeface="Arial MT"/>
                <a:cs typeface="Arial MT"/>
              </a:rPr>
              <a:t>Draft Chapters</a:t>
            </a:r>
            <a:endParaRPr sz="750">
              <a:latin typeface="Arial MT"/>
              <a:cs typeface="Arial MT"/>
            </a:endParaRPr>
          </a:p>
        </p:txBody>
      </p:sp>
      <p:pic>
        <p:nvPicPr>
          <p:cNvPr id="22" name="object 2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01975" y="2745574"/>
            <a:ext cx="146050" cy="146050"/>
          </a:xfrm>
          <a:prstGeom prst="rect">
            <a:avLst/>
          </a:prstGeom>
        </p:spPr>
      </p:pic>
      <p:sp>
        <p:nvSpPr>
          <p:cNvPr id="23" name="object 23" descr=""/>
          <p:cNvSpPr txBox="1"/>
          <p:nvPr/>
        </p:nvSpPr>
        <p:spPr>
          <a:xfrm>
            <a:off x="8077616" y="2577299"/>
            <a:ext cx="19494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 b="1">
                <a:solidFill>
                  <a:srgbClr val="572B82"/>
                </a:solidFill>
                <a:latin typeface="Arial"/>
                <a:cs typeface="Arial"/>
              </a:rPr>
              <a:t>Oct</a:t>
            </a:r>
            <a:endParaRPr sz="800">
              <a:latin typeface="Arial"/>
              <a:cs typeface="Aria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7932080" y="2875749"/>
            <a:ext cx="486409" cy="279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6360" marR="5080" indent="-74295">
              <a:lnSpc>
                <a:spcPct val="111100"/>
              </a:lnSpc>
              <a:spcBef>
                <a:spcPts val="100"/>
              </a:spcBef>
            </a:pPr>
            <a:r>
              <a:rPr dirty="0" sz="750" spc="-10">
                <a:solidFill>
                  <a:srgbClr val="444444"/>
                </a:solidFill>
                <a:latin typeface="Arial MT"/>
                <a:cs typeface="Arial MT"/>
              </a:rPr>
              <a:t>Committee Review</a:t>
            </a:r>
            <a:endParaRPr sz="750">
              <a:latin typeface="Arial MT"/>
              <a:cs typeface="Arial MT"/>
            </a:endParaRPr>
          </a:p>
        </p:txBody>
      </p:sp>
      <p:pic>
        <p:nvPicPr>
          <p:cNvPr id="25" name="object 2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87974" y="2745574"/>
            <a:ext cx="146050" cy="146050"/>
          </a:xfrm>
          <a:prstGeom prst="rect">
            <a:avLst/>
          </a:prstGeom>
        </p:spPr>
      </p:pic>
      <p:sp>
        <p:nvSpPr>
          <p:cNvPr id="26" name="object 26" descr=""/>
          <p:cNvSpPr txBox="1"/>
          <p:nvPr/>
        </p:nvSpPr>
        <p:spPr>
          <a:xfrm>
            <a:off x="9955132" y="2577299"/>
            <a:ext cx="21209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 b="1">
                <a:solidFill>
                  <a:srgbClr val="572B82"/>
                </a:solidFill>
                <a:latin typeface="Arial"/>
                <a:cs typeface="Arial"/>
              </a:rPr>
              <a:t>Dec</a:t>
            </a:r>
            <a:endParaRPr sz="800">
              <a:latin typeface="Arial"/>
              <a:cs typeface="Arial"/>
            </a:endParaRPr>
          </a:p>
        </p:txBody>
      </p:sp>
      <p:sp>
        <p:nvSpPr>
          <p:cNvPr id="28" name="object 2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Hallucination Evaluation in LLM-Based Medical Summarization</a:t>
            </a:r>
            <a:r>
              <a:rPr dirty="0" spc="204"/>
              <a:t> </a:t>
            </a:r>
            <a:r>
              <a:rPr dirty="0"/>
              <a:t>·</a:t>
            </a:r>
            <a:r>
              <a:rPr dirty="0" spc="200"/>
              <a:t> </a:t>
            </a:r>
            <a:r>
              <a:rPr dirty="0"/>
              <a:t>CSUN Comp</a:t>
            </a:r>
            <a:r>
              <a:rPr dirty="0" spc="5"/>
              <a:t> </a:t>
            </a:r>
            <a:r>
              <a:rPr dirty="0"/>
              <a:t>696C</a:t>
            </a:r>
            <a:r>
              <a:rPr dirty="0" spc="200"/>
              <a:t> </a:t>
            </a:r>
            <a:r>
              <a:rPr dirty="0"/>
              <a:t>·</a:t>
            </a:r>
            <a:r>
              <a:rPr dirty="0" spc="200"/>
              <a:t> </a:t>
            </a:r>
            <a:r>
              <a:rPr dirty="0"/>
              <a:t>April</a:t>
            </a:r>
            <a:r>
              <a:rPr dirty="0" spc="5"/>
              <a:t> </a:t>
            </a:r>
            <a:r>
              <a:rPr dirty="0" spc="-20"/>
              <a:t>2026</a:t>
            </a:r>
          </a:p>
        </p:txBody>
      </p:sp>
      <p:sp>
        <p:nvSpPr>
          <p:cNvPr id="29" name="object 2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/>
              <a:t>10</a:t>
            </a:fld>
            <a:r>
              <a:rPr dirty="0" spc="-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 spc="-25"/>
              <a:t>10</a:t>
            </a:r>
          </a:p>
        </p:txBody>
      </p:sp>
      <p:sp>
        <p:nvSpPr>
          <p:cNvPr id="27" name="object 27" descr=""/>
          <p:cNvSpPr txBox="1"/>
          <p:nvPr/>
        </p:nvSpPr>
        <p:spPr>
          <a:xfrm>
            <a:off x="9870944" y="2888449"/>
            <a:ext cx="38036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solidFill>
                  <a:srgbClr val="444444"/>
                </a:solidFill>
                <a:latin typeface="Arial MT"/>
                <a:cs typeface="Arial MT"/>
              </a:rPr>
              <a:t>Defense</a:t>
            </a:r>
            <a:endParaRPr sz="75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Laya</dc:creator>
  <dc:subject>unspecified</dc:subject>
  <dc:title>Thesis Progress Presentation</dc:title>
  <dcterms:created xsi:type="dcterms:W3CDTF">2026-04-10T21:17:00Z</dcterms:created>
  <dcterms:modified xsi:type="dcterms:W3CDTF">2026-04-10T21:17:00Z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2026-04-10T00:00:00Z</vt:filetime>
  </property>
  <property fmtid="{D5CDD505-2E9C-101B-9397-08002B2CF9AE}" pid="3" name="Creator">
    <vt:lpwstr>anonymous</vt:lpwstr>
  </property>
  <property fmtid="{D5CDD505-2E9C-101B-9397-08002B2CF9AE}" pid="4" name="LastSaved">
    <vt:filetime>2026-04-10T00:00:00Z</vt:filetime>
  </property>
  <property fmtid="{D5CDD505-2E9C-101B-9397-08002B2CF9AE}" pid="5" name="Producer">
    <vt:lpwstr>ReportLab PDF Library - (opensource)</vt:lpwstr>
  </property>
</Properties>
</file>