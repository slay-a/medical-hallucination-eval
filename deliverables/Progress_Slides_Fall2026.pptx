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Advisor: Dr. Taehyung (George) Wang</a:t>
            </a:r>
          </a:p>
          <a:p>
            <a:r>
              <a:rPr sz="1800"/>
              <a:t>California State University, Northridge, September 14,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Project and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 patient-facing summaries at the claim level and test whether retrieval grounding reduces them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GPT-4o-mini summary statements unsupported by or contradicting the note (claim-level NLI judge)?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does the judge itself err against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does document-grounded RAG reduce unsupported and contradicted statements, versus an extractive bound, and at what coverage cost?</a:t>
            </a:r>
          </a:p>
          <a:p>
            <a:pPr>
              <a:spcAft>
                <a:spcPts val="800"/>
              </a:spcAft>
            </a:pPr>
            <a:r>
              <a:rPr sz="1600"/>
              <a:t>• Three approaches compared on 50 MTSamples notes: E0 zero-context LLM, E1 RAG (excerpts only), E2 centroid extractive</a:t>
            </a:r>
          </a:p>
          <a:p>
            <a:pPr>
              <a:spcAft>
                <a:spcPts val="800"/>
              </a:spcAft>
            </a:pPr>
            <a:r>
              <a:rPr sz="1600"/>
              <a:t>• Judge: spaCy claims, all-MiniLM-L6-v2 retrieval (top-3), cross-encoder/nli-MiniLM2-L6-H768; metrics UFR and CR per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60157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is retrieved from the same note.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1,211 claims labelled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May 14, 2026, integrity verified; staged for a future local-model re-run, not sent to any API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summaries, 423 unsupported-fact spans; used to validate the judge with local models</a:t>
            </a:r>
          </a:p>
          <a:p>
            <a:pPr>
              <a:spcAft>
                <a:spcPts val="800"/>
              </a:spcAft>
            </a:pPr>
            <a:r>
              <a:rPr sz="1600"/>
              <a:t>• The PhysioNet archive download was incomplete (934 MB of &gt;3.4 GB); the 14 annotation files were extracted and verified against the SHA-256 manifest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no credentialed text leaves the laptop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Corrections since the May 2026 report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4345289"/>
                <a:gridCol w="368404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Issue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Effect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Markdown headers ('**Key Findings:**') counted as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Header filter; 131 E0 and 31 E1 header lines removed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E1 vs E0 CR effect: -0.073 (p &lt; 0.001) → -0.042 (p = 0.011)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E1 described as 'note + excerpts', overlapping chunks, structured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Description corrected: excerpts only; non-overlapping 5-sentence chunks; query = description + first 300 chars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Adds E1b (note + excerpts) as an implemented extension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NLI rule described as argmax over a concatenated premise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Corrected: max over 3 separate pairs, 0.5 thresholds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Aggregation variants now tested against experts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'48 percentage-point' median CR drop; Xie et al. mis-citation; APA/IEEE mix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Arithmetic fixed; citation replaced (Asgari 2025); IEEE with DOIs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64-entry reference list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requirements.txt missing 4 packages; 'bootstrap CIs' claimed but 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Packages added; bootstrap CIs, effect sizes, Holm adjustment implemented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bash run.sh --offline reproduces every number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results (n = 50 documents, header lines excluded)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6033"/>
                <a:gridCol w="1511404"/>
                <a:gridCol w="1322479"/>
                <a:gridCol w="1511404"/>
                <a:gridCol w="2739421"/>
                <a:gridCol w="1889256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vs E0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vs E0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-0.004, p = 0.977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-0.689, p &lt; 0.001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-0.042 (24% rel.), p = 0.011, Holm p = 0.034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-0.076, p = 0.003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Documents improved (CR)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d(z) = -0.34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d(z) = -0.41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 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 = 0.010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 = 0.244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RAG lowers the judge's contradiction rate modestly and leaves the unsupported-fact rate unchanged; the extractive bound has a non-zero error floor.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Contradiction rate: distributions and per-document pairs</a:t>
            </a:r>
          </a:p>
        </p:txBody>
      </p:sp>
      <p:pic>
        <p:nvPicPr>
          <p:cNvPr id="3" name="Picture 2" descr="fig_cr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4055280"/>
          </a:xfrm>
          <a:prstGeom prst="rect">
            <a:avLst/>
          </a:prstGeom>
        </p:spPr>
      </p:pic>
      <p:pic>
        <p:nvPicPr>
          <p:cNvPr id="4" name="Picture 3" descr="fig_c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30051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Headline finding: the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judge flags 84% where experts flag 20%; kappa 0.06 is chance level, and the judge ranks systems in nearly the reverse order of the experts. Absolute UFR/CR are not hallucination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No aggregation rule rescues the judge</a:t>
            </a:r>
          </a:p>
        </p:txBody>
      </p:sp>
      <p:pic>
        <p:nvPicPr>
          <p:cNvPr id="3" name="Picture 2" descr="fig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96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Best kappa over all variants and thresholds: 0.14; best AUROC 0.66. The limiting factor is the small general-domain NLI model on paraphrased patient-facing sentences.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Robustness: the RAG effect holds only at the default threshold</a:t>
            </a:r>
          </a:p>
        </p:txBody>
      </p:sp>
      <p:pic>
        <p:nvPicPr>
          <p:cNvPr id="3" name="Picture 2" descr="fig_threshol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542789"/>
          </a:xfrm>
          <a:prstGeom prst="rect">
            <a:avLst/>
          </a:prstGeom>
        </p:spPr>
      </p:pic>
      <p:pic>
        <p:nvPicPr>
          <p:cNvPr id="4" name="Picture 3" descr="fig_topk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25920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What remains unsupported, and the judge's own errors</a:t>
            </a:r>
          </a:p>
        </p:txBody>
      </p:sp>
      <p:pic>
        <p:nvPicPr>
          <p:cNvPr id="3" name="Picture 2" descr="fig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702287"/>
          </a:xfrm>
          <a:prstGeom prst="rect">
            <a:avLst/>
          </a:prstGeom>
        </p:spPr>
      </p:pic>
      <p:pic>
        <p:nvPicPr>
          <p:cNvPr id="4" name="Picture 3" descr="fig_e2_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48493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draft generated from the result files: 95 pages in CSUN format (1-inch margins, 12-pt Times New Roman, double-spaced, roman-numbered preliminary pages, arabic body)</a:t>
            </a:r>
          </a:p>
          <a:p>
            <a:pPr>
              <a:spcAft>
                <a:spcPts val="800"/>
              </a:spcAft>
            </a:pPr>
            <a:r>
              <a:rPr sz="1600"/>
              <a:t>• Chapters: 1 Introduction, 2 Literature Review, 3 Data and Preprocessing, 4 Methodology, 5 Results, 6 Discussion, 7 Conclusion and Future Work; 64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New content since May: header-filter correction, judge validation against expert annotations, five aggregation variants, threshold/top-k/cleaned-evidence ablations, coverage proxy, negation analysis, error taxonomy, ethics and governance section</a:t>
            </a:r>
          </a:p>
          <a:p>
            <a:pPr>
              <a:spcAft>
                <a:spcPts val="800"/>
              </a:spcAft>
            </a:pPr>
            <a:r>
              <a:rPr sz="1600"/>
              <a:t>• Open items: committee member names on the signature page; advisor review; title alignment with the ETD planning form (question answering removed from scope)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command; the document rebuilds in about two minutes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07"/>
                <a:gridCol w="916289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19,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review of this complete draft; committee names confirmed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30,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Run E1b and E3 (API access), re-run recomputation and rebuild; optional MIMIC re-run with a local open-weight generator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filed (title without question answering)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16,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Revised draft to advisor for approval; Canvas upload and Turnitin check after approval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30,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(two-week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(40 min presentation, 10 min Q&amp;A);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December 12 defense date in the May report is after the December 4 ETD deadline and has been moved.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central instrument agrees with experts at chance level; the thesis reports this as its main methodological finding and proposes stronger judges as future work</a:t>
            </a:r>
          </a:p>
          <a:p>
            <a:pPr>
              <a:spcAft>
                <a:spcPts val="800"/>
              </a:spcAft>
            </a:pPr>
            <a:r>
              <a:rPr sz="1600"/>
              <a:t>• API access for E1b and E3: about 550 GPT-4o-mini calls (under one dollar); needs an OPENAI_API_KEY on the build machine</a:t>
            </a:r>
          </a:p>
          <a:p>
            <a:pPr>
              <a:spcAft>
                <a:spcPts val="800"/>
              </a:spcAft>
            </a:pPr>
            <a:r>
              <a:rPr sz="1600"/>
              <a:t>• MIMIC generation: requires a zero-data-retention agreement or a local open-weight model; kept optional</a:t>
            </a:r>
          </a:p>
          <a:p>
            <a:pPr>
              <a:spcAft>
                <a:spcPts val="800"/>
              </a:spcAft>
            </a:pPr>
            <a:r>
              <a:rPr sz="1600"/>
              <a:t>• Schedule: two weeks of committee review plus advisor approval must precede the Nov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 to advisor: confirm committee members, review the complete draft, and advise on the title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