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Evaluating and Reducing Hallucinations in LLM-Based Medical Report Summarization</a:t>
            </a:r>
          </a:p>
          <a:p>
            <a:r>
              <a:rPr sz="1800"/>
              <a:t>Second Progress Report, Fall 2026 (COMP 698C)</a:t>
            </a:r>
          </a:p>
          <a:p>
            <a:r>
              <a:rPr sz="1800"/>
              <a:t>Srilaya Ponangi, M.S. Computer Science</a:t>
            </a:r>
          </a:p>
          <a:p>
            <a:r>
              <a:rPr sz="1800"/>
              <a:t>Committee: Dr. Taehyung (George) Wang (chair), Dr. Robert McIlhenny, Dr. Mahdi Ebrahimi</a:t>
            </a:r>
          </a:p>
          <a:p>
            <a:r>
              <a:rPr sz="1800"/>
              <a:t>California State University, Northridge, October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Goal and research questions (from the proposal)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• Goal: measure hallucinations in LLM-generated patient-facing summaries at the claim level with a judge validated against medical experts, and test whether retrieval grounding and verification reduce them on real clinical notes</a:t>
            </a:r>
          </a:p>
          <a:p>
            <a:pPr>
              <a:spcAft>
                <a:spcPts val="800"/>
              </a:spcAft>
            </a:pPr>
            <a:r>
              <a:rPr sz="1600"/>
              <a:t>• RQ1: how often are LLM summary statements unsupported by, or contradicting, the source note?</a:t>
            </a:r>
          </a:p>
          <a:p>
            <a:pPr>
              <a:spcAft>
                <a:spcPts val="800"/>
              </a:spcAft>
            </a:pPr>
            <a:r>
              <a:rPr sz="1600"/>
              <a:t>• RQ2: which statements are unsupported, and how well does the automatic judge agree with medical experts?</a:t>
            </a:r>
          </a:p>
          <a:p>
            <a:pPr>
              <a:spcAft>
                <a:spcPts val="800"/>
              </a:spcAft>
            </a:pPr>
            <a:r>
              <a:rPr sz="1600"/>
              <a:t>• RQ3: do retrieval-augmented generation and verification reduce unsupported and contradicted statements, compared with an extractive reference, and at what cost in coverage?</a:t>
            </a:r>
          </a:p>
          <a:p>
            <a:pPr>
              <a:spcAft>
                <a:spcPts val="800"/>
              </a:spcAft>
            </a:pPr>
            <a:r>
              <a:rPr sz="1600"/>
              <a:t>• Two tasks in the proposal: summarization (main task) and document-grounded question answering (piloted with abstention)</a:t>
            </a:r>
          </a:p>
          <a:p>
            <a:pPr>
              <a:spcAft>
                <a:spcPts val="800"/>
              </a:spcAft>
            </a:pPr>
            <a:r>
              <a:rPr sz="1600"/>
              <a:t>• Three studies: pilot on public MTSamples notes with GPT-4o-mini; judge selection against expert labels; main study on MIMIC-IV hospital courses with a locally run open-weight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Proposal commitments and where they stand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299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5289"/>
                <a:gridCol w="708471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Commitment in the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Status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Claim-level NLI judge calibrated against expert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Done: pilot judge validated (kappa 0.06); six candidates compared; DeBERTa-v3-large NLI selected (kappa 0.33, AUROC 0.78); MedNLI fine-tune: dev accuracy 87.8%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Experiments on MIMIC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Done: 110 MIMIC-IV hospital courses, Qwen2.5-7B-Instruct served locally, no protected text leaves the laptop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RAG, verification and an extractive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Done in both studies: E0 full-note, E1 RAG (excerpts), E1b RAG (note + excerpts), E3 RAG + Chain-of-Verification, E2 extractive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Coverage against a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Done: share of the clinician-written discharge-instruction sentences that the generated summary supports (judge run in reverse)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Citation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Done: retrieval conditions cite an excerpt after every sentence; the judge checks each citation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Retrieval ablations (chunk size, top-k, BM25 vs dense, citations)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Done: six E1 variants on the same documents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Question answering with abstention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Pilot: three questions per course (medications, follow-up, warning signs), full course vs retrieved excerpts, 'Not stated in the note.' allowed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Pipeline (identical judge for every condition)</a:t>
            </a:r>
          </a:p>
        </p:txBody>
      </p:sp>
      <p:pic>
        <p:nvPicPr>
          <p:cNvPr id="3" name="Picture 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71004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Every summary is scored by the same claim-level NLI judge; evidence comes from the same source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Data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• MTSamples (public): 4,999 transcriptions, 624 eligible consult and discharge notes, 50 sampled (seed 42); 2,016 pilot claims labeled</a:t>
            </a:r>
          </a:p>
          <a:p>
            <a:pPr>
              <a:spcAft>
                <a:spcPts val="800"/>
              </a:spcAft>
            </a:pPr>
            <a:r>
              <a:rPr sz="1600"/>
              <a:t>• ann-pt-summ v1.0.1 (PhysioNet, DUA signed): 210 expert-annotated patient summaries with 423 unsupported-fact spans for judge validation and selection; its 110 MIMIC-IV hospital courses with clinician-written discharge instructions are the main-study corpus</a:t>
            </a:r>
          </a:p>
          <a:p>
            <a:pPr>
              <a:spcAft>
                <a:spcPts val="800"/>
              </a:spcAft>
            </a:pPr>
            <a:r>
              <a:rPr sz="1600"/>
              <a:t>• MedNLI v1.0.0 (PhysioNet, DUA signed): 14,049 clinician-written premise and hypothesis pairs from MIMIC-III, used to adapt the judge</a:t>
            </a:r>
          </a:p>
          <a:p>
            <a:pPr>
              <a:spcAft>
                <a:spcPts val="800"/>
              </a:spcAft>
            </a:pPr>
            <a:r>
              <a:rPr sz="1600"/>
              <a:t>• MIMIC-IV-Note v2.2 (PhysioNet, credentialed): downloaded and verified in May 2026; the source of the hospital courses</a:t>
            </a:r>
          </a:p>
          <a:p>
            <a:pPr>
              <a:spcAft>
                <a:spcPts val="800"/>
              </a:spcAft>
            </a:pPr>
            <a:r>
              <a:rPr sz="1600"/>
              <a:t>• Ethics: CITI 'Data or Specimens Only Research' and 'Conflicts of Interest' completed April 10, 2026; every credentialed text is processed by models running on the author's laptop; nothing is sent to an API or to cloud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Pilot study: five conditions on 50 MTSamples notes (GPT-4o-mini, MiniLM judge)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299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183"/>
                <a:gridCol w="1726163"/>
                <a:gridCol w="1726163"/>
                <a:gridCol w="1726163"/>
                <a:gridCol w="1726163"/>
                <a:gridCol w="172616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E0 full-note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E1 RAG excerpts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E1b RAG +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E3 RAG + CoVe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E2 extractive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UFR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CR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0.096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Supported share of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Claims per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Words per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Coverage of source sentences (cos ≥ 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Paired Wilcoxon versus E0: E1 CR p = 0.011 (−24%), E1 UFR p = 0.977; E1b UFR p = 0.020; E3 UFR p &lt; 0.001 (−15%; versus E1 p &lt; 0.001), E3 CR p = 0.913; E2 UFR p &lt; 0.001. Verification lowers unsupported facts the most; retrieval alone lowers contradictions modestly; the extractive reference shows the judge errs even on verbatim text. Header lines and abstentions excluded.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Pilot headline: the small MiniLM judge disagrees with medical experts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299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405"/>
                <a:gridCol w="1235675"/>
                <a:gridCol w="1544594"/>
                <a:gridCol w="1956486"/>
                <a:gridCol w="1235675"/>
                <a:gridCol w="1132702"/>
                <a:gridCol w="1029729"/>
                <a:gridCol w="1029729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Expert-flagged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Judge-flagged (UFR)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Kappa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AUROC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doctor written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llama 70b 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gpt4 zero 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On 1,781 expert-annotated sentences the pilot judge flags 84% where experts flag 20%; kappa 0.06 is chance level; no aggregation variant raised kappa above 0.14. This motivated the judge selection study.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Judge selection: candidates scored against the expert annotations (1,781 sentences)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2999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2016"/>
                <a:gridCol w="1921008"/>
                <a:gridCol w="1056554"/>
                <a:gridCol w="1248655"/>
                <a:gridCol w="1056554"/>
                <a:gridCol w="1056554"/>
                <a:gridCol w="1248655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Kappa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Flag rate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DeBERTa-v3-large NLI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whole course, windowed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MiniCheck DeBERTa-v3-large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whole course, windowed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DeBERTa-v3-large NLI fine-tuned on MedNLI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whole course, windowed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Bespoke-MiniCheck-7B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top-3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Bespoke-MiniCheck-7B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whole course, windowed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DeBERTa-v3-large NLI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top-3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DeBERTa-v3-large NLI fine-tuned on MedNLI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top-3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MiniCheck DeBERTa-v3-large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top-3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MiniCheck RoBERTa-large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whole course, windowed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MiniCheck RoBERTa-large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top-3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DeBERTa-v3-large cross-encoder NLI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top-3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MiniLM cross-encoder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top-3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DeBERTa-v3-large cross-encoder NLI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whole course, windowed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MiniLM cross-encoder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whole course, windowed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Decision rule fixed in advance: highest kappa on all sentences, threshold chosen on the other subset. Selected: DeBERTa-v3-large NLI (whole course, windowed), kappa 0.33, AUROC 0.78, precision 0.44, recall 0.54: moderate agreement, so main-study rates are estimates from an instrument with a known error profile, and the paired comparisons carry the weight.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Judge selection: AUROC and kappa by candidate and evidence mode</a:t>
            </a:r>
          </a:p>
        </p:txBody>
      </p:sp>
      <p:pic>
        <p:nvPicPr>
          <p:cNvPr id="3" name="Picture 2" descr="fig_ju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608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Model size and training data matter more than the aggregation rule; whole-course evidence helps the large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Main study design: MIMIC-IV hospital courses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• 110 de-identified Brief Hospital Course sections (ann-pt-summ), each paired with the discharge instructions the treating clinician wrote</a:t>
            </a:r>
          </a:p>
          <a:p>
            <a:pPr>
              <a:spcAft>
                <a:spcPts val="800"/>
              </a:spcAft>
            </a:pPr>
            <a:r>
              <a:rPr sz="1600"/>
              <a:t>• Generator: Qwen2.5-7B-Instruct, 4-bit, served on the laptop with Apple MLX through an OpenAI-compatible interface; the pilot pipeline runs unchanged and no protected text leaves the machine</a:t>
            </a:r>
          </a:p>
          <a:p>
            <a:pPr>
              <a:spcAft>
                <a:spcPts val="800"/>
              </a:spcAft>
            </a:pPr>
            <a:r>
              <a:rPr sz="1600"/>
              <a:t>• Same five conditions; retrieval conditions must cite the excerpt behind every sentence; 'Not stated in the note.' allowed for unsupported sections</a:t>
            </a:r>
          </a:p>
          <a:p>
            <a:pPr>
              <a:spcAft>
                <a:spcPts val="800"/>
              </a:spcAft>
            </a:pPr>
            <a:r>
              <a:rPr sz="1600"/>
              <a:t>• Judge: DeBERTa-v3-large NLI with whole-course evidence; UFR and CR per summary; the doctor-written instructions scored as a human reference</a:t>
            </a:r>
          </a:p>
          <a:p>
            <a:pPr>
              <a:spcAft>
                <a:spcPts val="800"/>
              </a:spcAft>
            </a:pPr>
            <a:r>
              <a:rPr sz="1600"/>
              <a:t>• Coverage measured against the clinician's own instructions (judge in reverse); citation accuracy; six retrieval ablations (3- or 8-sentence chunks, top-2 or top-5, BM25, no citations)</a:t>
            </a:r>
          </a:p>
          <a:p>
            <a:pPr>
              <a:spcAft>
                <a:spcPts val="800"/>
              </a:spcAft>
            </a:pPr>
            <a:r>
              <a:rPr sz="1600"/>
              <a:t>• Question-answering pilot: medications, follow-up and warning signs; full course versus three retrieved chunks; abstention rate, UFR/CR, and support by the clinician's instructions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Main study results (n = 110 hospital courses; judge: DeBERTa-v3-large NLI, τ = 0.20)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2999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79"/>
                <a:gridCol w="1417319"/>
                <a:gridCol w="1417319"/>
                <a:gridCol w="1417319"/>
                <a:gridCol w="1417319"/>
                <a:gridCol w="1417319"/>
                <a:gridCol w="1417319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E0 full-note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E1 RAG excerpts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E1b RAG +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E3 RAG + CoVe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E2 extractive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Clinician-written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UFR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0.289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CR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0.080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Coverage of the clinician's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Citation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Abstentions per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Claims per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Words per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E1 vs E0: UFR p &lt; 0.001, CR p = 0.985, coverage p &lt; 0.001. E1b vs E0: UFR p &lt; 0.001, CR p = 0.462, coverage p = 0.449. E3 vs E0: UFR p &lt; 0.001, CR p = 0.878, coverage p &lt; 0.001. E2 vs E0: UFR p &lt; 0.001, CR p = 0.169, coverage p &lt; 0.001. Paired two-sided Wilcoxon tests on the same documents.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Main study: per-document distributions</a:t>
            </a:r>
          </a:p>
        </p:txBody>
      </p:sp>
      <p:pic>
        <p:nvPicPr>
          <p:cNvPr id="3" name="Picture 2" descr="fig_mimic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577840" cy="2684646"/>
          </a:xfrm>
          <a:prstGeom prst="rect">
            <a:avLst/>
          </a:prstGeom>
        </p:spPr>
      </p:pic>
      <p:pic>
        <p:nvPicPr>
          <p:cNvPr id="4" name="Picture 3" descr="fig_mimic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7762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Main study: what the results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• Every grounded condition cut the unsupported fact rate by about 47 percent versus full-note (E1 0.075, E1b 0.073, E3 0.068 versus E0 0.137; all p &lt; 0.001); the three do not differ from one another; CR did not change</a:t>
            </a:r>
          </a:p>
          <a:p>
            <a:pPr>
              <a:spcAft>
                <a:spcPts val="800"/>
              </a:spcAft>
            </a:pPr>
            <a:r>
              <a:rPr sz="1600"/>
              <a:t>• Omission separates them: excerpt-only RAG covered 37% of the clinician's sentences and verification 34%, against 54% for E0; RAG with the whole course kept 53% (p = 0.449 versus E0)</a:t>
            </a:r>
          </a:p>
          <a:p>
            <a:pPr>
              <a:spcAft>
                <a:spcPts val="800"/>
              </a:spcAft>
            </a:pPr>
            <a:r>
              <a:rPr sz="1600"/>
              <a:t>• Verbatim extraction scores UFR 0.058: judge error on text supported by construction, a reference rather than a floor; the grounded LLM conditions sit within a few hundredths of it</a:t>
            </a:r>
          </a:p>
          <a:p>
            <a:pPr>
              <a:spcAft>
                <a:spcPts val="800"/>
              </a:spcAft>
            </a:pPr>
            <a:r>
              <a:rPr sz="1600"/>
              <a:t>• The clinicians' own instructions score UFR 0.289 under the same judge: support by the hospital course measures source-faithfulness, not clinical correctness</a:t>
            </a:r>
          </a:p>
          <a:p>
            <a:pPr>
              <a:spcAft>
                <a:spcPts val="800"/>
              </a:spcAft>
            </a:pPr>
            <a:r>
              <a:rPr sz="1600"/>
              <a:t>• Citations: 85% accurate for excerpt-only RAG but 55% for RAG with the whole course; no retrieval setting changed faithfulness; coverage followed the amount of retrieved text</a:t>
            </a:r>
          </a:p>
          <a:p>
            <a:pPr>
              <a:spcAft>
                <a:spcPts val="800"/>
              </a:spcAft>
            </a:pPr>
            <a:r>
              <a:rPr sz="1600"/>
              <a:t>• Question answering: abstention 23% (full course) versus 33% (excerpts), highest for warning signs, which the course rarely states; retrieval lowers unsupported answers partly by abstaining more</a:t>
            </a:r>
          </a:p>
          <a:p>
            <a:pPr>
              <a:spcAft>
                <a:spcPts val="800"/>
              </a:spcAft>
            </a:pPr>
            <a:r>
              <a:rPr sz="1600"/>
              <a:t>• Second judge (Bespoke-MiniCheck-7B, a 7B LLM checker): same ordering of conditions; flags 0.4% of verbatim extracts, so the NLI judge's 0.058 on verbatim text is its own error; confirms 40% of the selected judge's flags; conservative (both judges) and inclusive (either judge) flagging rules give 0.008 to 0.194 for the grounded conditions, alternative estimates rather than bounds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Retrieval ablations: paired difference from the E1 base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2999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661"/>
                <a:gridCol w="1983719"/>
                <a:gridCol w="1983719"/>
                <a:gridCol w="1983719"/>
                <a:gridCol w="20781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UFR 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CR 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coverage 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citation accuracy (p)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3-sentence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+0.000 (p = 0.902)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+0.013 (p = 0.146)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-0.072 (p &lt; 0.001)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-0.020 (p = 0.880)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8-sentence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-0.007 (p = 0.572)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-0.005 (p = 0.265)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+0.060 (p = 0.003)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-0.009 (p = 0.936)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top-2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+0.013 (p = 0.471)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+0.013 (p = 0.108)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-0.058 (p &lt; 0.001)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-0.004 (p = 0.699)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top-5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+0.005 (p = 0.584)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-0.001 (p = 0.656)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+0.072 (p &lt; 0.001)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-0.032 (p = 0.184)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BM25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-0.001 (p = 0.917)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+0.003 (p = 0.933)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+0.028 (p = 0.177)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-0.002 (p = 0.767)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citations 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+0.021 (p = 0.117)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-0.010 (p = 0.091)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+0.019 (p = 0.314)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Negative UFR and CR differences and positive coverage and citation differences favor the variant. Base: 5-sentence chunks, top-3, dense retrieval, citations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Question-answering pilot (three questions per course)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2999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11"/>
                <a:gridCol w="1677798"/>
                <a:gridCol w="734036"/>
                <a:gridCol w="1258348"/>
                <a:gridCol w="1048623"/>
                <a:gridCol w="1048623"/>
                <a:gridCol w="3355596"/>
                <a:gridCol w="94376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Abstained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UFR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Supported by clinician's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Words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QA-E0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QA-E0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follow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QA-E0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medications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QA-E0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warning 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QA-E1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QA-E1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follow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QA-E1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medications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QA-E1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warning 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QA-E0 answers from the full hospital course; QA-E1 from the three chunks retrieved with the question. UFR and CR are computed on answered questions only.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Hypotheses: verdicts across both studies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299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884"/>
                <a:gridCol w="2833884"/>
                <a:gridCol w="3400661"/>
                <a:gridCol w="236157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Pilot (MTSamples, GPT-4o-mini)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Main study (MIMIC-IV, local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Verdict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H1: unsupported content is measurable, and the judge agrees with experts better than chance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UFR 0.811 under a judge with kappa 0.06 (chance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UFR 0.137 (judge-estimated; verbatim-extraction reference 0.058); judge kappa 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First half supported; second half supported only for the selected judge, moderately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H2: RAG reduces unsupported and contradicted statements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CR down 24% (p = 0.011, Holm p = 0.135); UFR 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UFR down 45 percent (p &lt; 0.001); CR unchanged (p = 0.985)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Supported for unsupported facts on hospital courses; not for contradictions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H3: verification adds to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E3 vs E1 UFR p 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Selected judge: E3 = E1 (p = 0.212); second judge: 0.079 vs 0.135 (p &lt; 0.001)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Supported in the pilot; judge-dependent in the main study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Paired two-sided Wilcoxon tests on the same documents. The main-study judge is DeBERTa-v3-large NLI selected against 1,781 expert-annotated sentences; the second judge is Bespoke-MiniCheck-7B.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Thesis writing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• Complete second draft generated from the result files: 156 pages in CSUN format (1-inch margins, 12-pt Times New Roman, double-spaced, roman-numbered preliminary pages, arabic body); signature page with the full committee</a:t>
            </a:r>
          </a:p>
          <a:p>
            <a:pPr>
              <a:spcAft>
                <a:spcPts val="800"/>
              </a:spcAft>
            </a:pPr>
            <a:r>
              <a:rPr sz="1600"/>
              <a:t>• Nine chapters: 1 Introduction, 2 Literature Review, 3 Data, 4 Methodology, 5 Pilot Study on MTSamples, 6 Selecting a Valid Judge, 7 Main Study on MIMIC-IV, 8 Discussion, 9 Conclusion; IEEE references with DOIs; Appendices A to E (prompts, per-document results, worked examples, repository, threshold sweep)</a:t>
            </a:r>
          </a:p>
          <a:p>
            <a:pPr>
              <a:spcAft>
                <a:spcPts val="800"/>
              </a:spcAft>
            </a:pPr>
            <a:r>
              <a:rPr sz="1600"/>
              <a:t>• Project status: all experiments promised in the proposal are complete (judge validation and selection, five conditions on MTSamples and on 110 MIMIC-IV hospital courses, coverage against the clinician's instructions, citation accuracy, six retrieval ablations, question-answering pilot), plus a second-judge robustness check on all 6,588 main-study claims</a:t>
            </a:r>
          </a:p>
          <a:p>
            <a:pPr>
              <a:spcAft>
                <a:spcPts val="800"/>
              </a:spcAft>
            </a:pPr>
            <a:r>
              <a:rPr sz="1600"/>
              <a:t>• Administrative status: committee confirmed (Dr. Wang, chair; Dr. McIlhenny; Dr. Ebrahimi); ETD planning form submitted</a:t>
            </a:r>
          </a:p>
          <a:p>
            <a:pPr>
              <a:spcAft>
                <a:spcPts val="800"/>
              </a:spcAft>
            </a:pPr>
            <a:r>
              <a:rPr sz="1600"/>
              <a:t>• Every table and figure is regenerated by one command from the result files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Revisions in the second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• Committee members added to the signature page; acknowledgments rewritten</a:t>
            </a:r>
          </a:p>
          <a:p>
            <a:pPr>
              <a:spcAft>
                <a:spcPts val="800"/>
              </a:spcAft>
            </a:pPr>
            <a:r>
              <a:rPr sz="1600"/>
              <a:t>• Statistics corrected: the retrieval-ablation effects on faithfulness are now reported with Holm-adjusted p-values and do not survive the correction (coverage effects do); the pilot's Holm family is described correctly as all twenty pairwise tests</a:t>
            </a:r>
          </a:p>
          <a:p>
            <a:pPr>
              <a:spcAft>
                <a:spcPts val="800"/>
              </a:spcAft>
            </a:pPr>
            <a:r>
              <a:rPr sz="1600"/>
              <a:t>• Hypotheses H1 to H3 answered across both studies in Chapter 8; paired tests added under the second judge (verification best under that judge, p &lt; 0.001)</a:t>
            </a:r>
          </a:p>
          <a:p>
            <a:pPr>
              <a:spcAft>
                <a:spcPts val="800"/>
              </a:spcAft>
            </a:pPr>
            <a:r>
              <a:rPr sz="1600"/>
              <a:t>• Literature review extended with grounding-specific checkers (MiniCheck), evidence on unreliable factuality metrics (Godbole and Jia 2025; FaithBench 2025) and clinical fact verification at scale (VeriFact 2026)</a:t>
            </a:r>
          </a:p>
          <a:p>
            <a:pPr>
              <a:spcAft>
                <a:spcPts val="800"/>
              </a:spcAft>
            </a:pPr>
            <a:r>
              <a:rPr sz="1600"/>
              <a:t>• Consistency pass: Chapters 1 to 4 brought in line with the main study (scope, data sources, methodology overview, section numbering), the comparison of approaches in Section 8.4 rewritten for both studies, spelling and figure captions corrected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Plan to the defense (aligned with CSUN ETD deadlines)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299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6033"/>
                <a:gridCol w="8973966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Milestone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Oct 9,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ETD Planning Form submitted; committee confirmed (done)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Mid-October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Second draft and progress report submitted; advisor review of the second draft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Oct 23,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Advisor approval; Canvas upload and Turnitin similarity check (20% or lower)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Oct 23 to Nov 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Draft to committee (at least two weeks of review); Doodle poll with 1-hour slots over 3 to 4 weeks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Nov 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ETD preliminary format review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Nov 16 to 24,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Defense on CSUN Zoom (40 min presentation, 10 min Q&amp;A, 10 min deliberation); slides to advisor one week before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Dec 4,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Final ETD upload after revisions; committee approval in the ETD system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The defense is planned before the December 4 ETD deadline, as the committee approves the thesis inside the ETD 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Risks and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• Judge validity: the selected judge agrees with experts moderately (kappa 0.33); main-study rates are judge-estimated and reported with this error profile, checked by a second judge and a manual audit, and conclusions rest on paired comparisons</a:t>
            </a:r>
          </a:p>
          <a:p>
            <a:pPr>
              <a:spcAft>
                <a:spcPts val="800"/>
              </a:spcAft>
            </a:pPr>
            <a:r>
              <a:rPr sz="1600"/>
              <a:t>• Generator difference: the pilot used GPT-4o-mini on public notes and the main study a 7-billion-parameter local model on MIMIC-IV, so the two studies are compared qualitatively</a:t>
            </a:r>
          </a:p>
          <a:p>
            <a:pPr>
              <a:spcAft>
                <a:spcPts val="800"/>
              </a:spcAft>
            </a:pPr>
            <a:r>
              <a:rPr sz="1600"/>
              <a:t>• Schedule: advisor approval, the Turnitin check and two weeks of committee review must all precede the November 6 format review</a:t>
            </a:r>
          </a:p>
          <a:p>
            <a:pPr>
              <a:spcAft>
                <a:spcPts val="800"/>
              </a:spcAft>
            </a:pPr>
            <a:r>
              <a:rPr sz="1600"/>
              <a:t>• Requests to the advisor: review the second draft and approve it for distribution to the committee; advise on the defense 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