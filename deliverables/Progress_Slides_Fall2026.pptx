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/>
              <a:t>Evaluating and Reducing Hallucinations in LLM-Based Medical Report Summarization</a:t>
            </a:r>
          </a:p>
          <a:p>
            <a:r>
              <a:rPr sz="1800"/>
              <a:t>Second Progress Report, Fall 2026 (COMP 698C)</a:t>
            </a:r>
          </a:p>
          <a:p>
            <a:r>
              <a:rPr sz="1800"/>
              <a:t>Srilaya Ponangi, M.S. Computer Science</a:t>
            </a:r>
          </a:p>
          <a:p>
            <a:r>
              <a:rPr sz="1800"/>
              <a:t>Committee: Dr. Taehyung (George) Wang (chair), Dr. Mahdi Ebrahimi, Dr. Robert McIlhenny</a:t>
            </a:r>
          </a:p>
          <a:p>
            <a:r>
              <a:rPr sz="1800"/>
              <a:t>California State University, Northridge, October 12,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/>
              <a:t>Goal and research questions (from the proposal)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/>
              <a:t>• Goal: measure hallucinations in LLM-generated patient-facing summaries at the claim level with a judge validated against medical experts, and test whether retrieval grounding and verification reduce them on real clinical notes</a:t>
            </a:r>
          </a:p>
          <a:p>
            <a:pPr>
              <a:spcAft>
                <a:spcPts val="800"/>
              </a:spcAft>
            </a:pPr>
            <a:r>
              <a:rPr sz="1600"/>
              <a:t>• RQ1: how often are LLM summary statements unsupported by, or contradicting, the source note?</a:t>
            </a:r>
          </a:p>
          <a:p>
            <a:pPr>
              <a:spcAft>
                <a:spcPts val="800"/>
              </a:spcAft>
            </a:pPr>
            <a:r>
              <a:rPr sz="1600"/>
              <a:t>• RQ2: which statements are unsupported, and how well does the automatic judge agree with medical experts?</a:t>
            </a:r>
          </a:p>
          <a:p>
            <a:pPr>
              <a:spcAft>
                <a:spcPts val="800"/>
              </a:spcAft>
            </a:pPr>
            <a:r>
              <a:rPr sz="1600"/>
              <a:t>• RQ3: do retrieval-augmented generation and verification reduce unsupported and contradicted statements, compared with an extractive bound, and at what cost in coverage?</a:t>
            </a:r>
          </a:p>
          <a:p>
            <a:pPr>
              <a:spcAft>
                <a:spcPts val="800"/>
              </a:spcAft>
            </a:pPr>
            <a:r>
              <a:rPr sz="1600"/>
              <a:t>• Two tasks in the proposal: summarization (main task) and document-grounded question answering (piloted with abstention)</a:t>
            </a:r>
          </a:p>
          <a:p>
            <a:pPr>
              <a:spcAft>
                <a:spcPts val="800"/>
              </a:spcAft>
            </a:pPr>
            <a:r>
              <a:rPr sz="1600"/>
              <a:t>• Three studies: pilot on public MTSamples notes with GPT-4o-mini; judge selection against expert labels; main study on MIMIC-IV hospital courses with a locally run open-weight model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/>
              <a:t>Proposal commitments and where they stand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365760" y="1097280"/>
          <a:ext cx="11429999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45289"/>
                <a:gridCol w="7084710"/>
              </a:tblGrid>
              <a:tr h="365760">
                <a:tc>
                  <a:txBody>
                    <a:bodyPr/>
                    <a:lstStyle/>
                    <a:p>
                      <a:r>
                        <a:rPr sz="1100" b="1"/>
                        <a:t>Commitment in the proposal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Status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/>
                        <a:t>Claim-level NLI judge calibrated against expert labels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Done: pilot judge validated (kappa 0.06); six candidates compared; DeBERTa-v3-large NLI selected (kappa 0.33, AUROC 0.78); MedNLI fine-tune: dev accuracy 87.8%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/>
                        <a:t>Experiments on MIMIC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Done: 110 MIMIC-IV hospital courses, Qwen2.5-7B-Instruct served locally, no protected text leaves the laptop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/>
                        <a:t>RAG, verification and an extractive baseline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Done in both studies: E0 zero-context, E1 RAG (excerpts), E1b RAG (note + excerpts), E3 RAG + Chain-of-Verification, E2 extractive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/>
                        <a:t>Coverage against a reference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Done: share of the clinician-written discharge-instruction sentences that the generated summary supports (judge run in reverse)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/>
                        <a:t>Citation accuracy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Done: retrieval conditions cite an excerpt after every sentence; the judge checks each citation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/>
                        <a:t>Retrieval ablations (chunk size, top-k, BM25 vs dense, citations)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Done: six E1 variants on the same documents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/>
                        <a:t>Question answering with abstention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Pilot: three questions per course (medications, follow-up, warning signs), full course vs retrieved excerpts, 'Not stated in the note.' allowed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/>
              <a:t>Pipeline (identical judge for every condition)</a:t>
            </a:r>
          </a:p>
        </p:txBody>
      </p:sp>
      <p:pic>
        <p:nvPicPr>
          <p:cNvPr id="3" name="Picture 2" descr="fig_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097280"/>
            <a:ext cx="11430000" cy="710045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603504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/>
              <a:t>Every summary is scored by the same claim-level NLI judge; evidence comes from the same source document.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/>
              <a:t>Data status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/>
              <a:t>• MTSamples (public): 4,999 transcriptions, 624 eligible consult and discharge notes, 50 sampled (seed 42); 2,016 pilot claims labeled</a:t>
            </a:r>
          </a:p>
          <a:p>
            <a:pPr>
              <a:spcAft>
                <a:spcPts val="800"/>
              </a:spcAft>
            </a:pPr>
            <a:r>
              <a:rPr sz="1600"/>
              <a:t>• ann-pt-summ v1.0.1 (PhysioNet, DUA signed): 210 expert-annotated patient summaries with 423 unsupported-fact spans for judge validation and selection; its 110 MIMIC-IV hospital courses with clinician-written discharge instructions are the main-study corpus</a:t>
            </a:r>
          </a:p>
          <a:p>
            <a:pPr>
              <a:spcAft>
                <a:spcPts val="800"/>
              </a:spcAft>
            </a:pPr>
            <a:r>
              <a:rPr sz="1600"/>
              <a:t>• MedNLI v1.0.0 (PhysioNet, DUA signed): 14,049 clinician-written premise and hypothesis pairs from MIMIC-III, used to adapt the judge</a:t>
            </a:r>
          </a:p>
          <a:p>
            <a:pPr>
              <a:spcAft>
                <a:spcPts val="800"/>
              </a:spcAft>
            </a:pPr>
            <a:r>
              <a:rPr sz="1600"/>
              <a:t>• MIMIC-IV-Note v2.2 (PhysioNet, credentialed): downloaded and verified in May 2026; the source of the hospital courses</a:t>
            </a:r>
          </a:p>
          <a:p>
            <a:pPr>
              <a:spcAft>
                <a:spcPts val="800"/>
              </a:spcAft>
            </a:pPr>
            <a:r>
              <a:rPr sz="1600"/>
              <a:t>• Ethics: CITI 'Data or Specimens Only Research' and 'Conflicts of Interest' completed April 10, 2026; every credentialed text is processed by models running on the author's laptop; nothing is sent to an API or to cloud storage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/>
              <a:t>Pilot study: five conditions on 50 MTSamples notes (GPT-4o-mini, MiniLM judge)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365760" y="1097280"/>
          <a:ext cx="11429998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99183"/>
                <a:gridCol w="1726163"/>
                <a:gridCol w="1726163"/>
                <a:gridCol w="1726163"/>
                <a:gridCol w="1726163"/>
                <a:gridCol w="1726163"/>
              </a:tblGrid>
              <a:tr h="365760">
                <a:tc>
                  <a:txBody>
                    <a:bodyPr/>
                    <a:lstStyle/>
                    <a:p>
                      <a:r>
                        <a:rPr sz="1100" b="1"/>
                        <a:t>Metric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E0 zero-context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E1 RAG excerpts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E1b RAG + note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E3 RAG + CoVe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E2 extractive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/>
                        <a:t>UFR mean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0.811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0.807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0.759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0.688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0.122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/>
                        <a:t>CR mean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0.172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0.130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0.148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0.164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0.096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/>
                        <a:t>Supported share of claims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19%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20%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24%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33%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89%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/>
                        <a:t>Claims per summary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10.4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8.9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10.2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5.9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4.8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/>
                        <a:t>Words per summary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182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156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180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120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69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/>
                        <a:t>Coverage of source sentences (cos ≥ 0.6)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16.7%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13.4%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18.5%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16.6%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18.3%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365760" y="594360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/>
              <a:t>Paired Wilcoxon versus E0: E1 CR p = 0.011 (−24%), E1 UFR p = 0.977; E1b UFR p = 0.020; E3 UFR p &lt; 0.001 (−15%; versus E1 p &lt; 0.001), E3 CR p = 0.913; E2 UFR p &lt; 0.001. Verification lowers unsupported facts the most; retrieval alone lowers contradictions modestly; the extractive bound exposes a non-zero judge error floor. Header lines and abstentions excluded.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/>
              <a:t>Pilot headline: the small MiniLM judge disagrees with medical experts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365760" y="1097280"/>
          <a:ext cx="11429995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5405"/>
                <a:gridCol w="1235675"/>
                <a:gridCol w="1544594"/>
                <a:gridCol w="1956486"/>
                <a:gridCol w="1235675"/>
                <a:gridCol w="1132702"/>
                <a:gridCol w="1029729"/>
                <a:gridCol w="1029729"/>
              </a:tblGrid>
              <a:tr h="365760">
                <a:tc>
                  <a:txBody>
                    <a:bodyPr/>
                    <a:lstStyle/>
                    <a:p>
                      <a:r>
                        <a:rPr sz="1100" b="1"/>
                        <a:t>Group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Sentences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Expert-flagged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Judge-flagged (UFR)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Precision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Recall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Kappa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AUROC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/>
                        <a:t>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1,781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20.4%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84.1%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0.94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0.65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/>
                        <a:t>generated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805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12.5%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83.7%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0.96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0.68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/>
                        <a:t>doctor written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976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26.8%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84.3%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0.94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0.66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/>
                        <a:t>llama 70b original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159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26.4%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83.0%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0.67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/>
                        <a:t>gpt4 zero shot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151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6.0%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87.4%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0.89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0.50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365760" y="594360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/>
              <a:t>On 1,781 expert-annotated sentences the pilot judge flags 84% where experts flag 20%; kappa 0.06 is chance level; no aggregation variant raised kappa above 0.14. This motivated the judge selection study.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/>
              <a:t>Judge selection: candidates scored against the expert annotations (1,781 sentences)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365760" y="1097280"/>
          <a:ext cx="11429996" cy="548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2016"/>
                <a:gridCol w="1921008"/>
                <a:gridCol w="1056554"/>
                <a:gridCol w="1248655"/>
                <a:gridCol w="1056554"/>
                <a:gridCol w="1056554"/>
                <a:gridCol w="1248655"/>
              </a:tblGrid>
              <a:tr h="365760">
                <a:tc>
                  <a:txBody>
                    <a:bodyPr/>
                    <a:lstStyle/>
                    <a:p>
                      <a:r>
                        <a:rPr sz="1100" b="1"/>
                        <a:t>Judge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Evidence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AUROC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Precision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Recall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Kappa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Flag rate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/>
                        <a:t>DeBERTa-v3-large NLI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whole course, windowed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0.78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0.44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0.54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25%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/>
                        <a:t>MiniCheck DeBERTa-v3-large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whole course, windowed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0.41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28%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/>
                        <a:t>DeBERTa-v3-large NLI fine-tuned on MedNLI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whole course, windowed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0.44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21%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/>
                        <a:t>Bespoke-MiniCheck-7B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top-3 sentences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31%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/>
                        <a:t>Bespoke-MiniCheck-7B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whole course, windowed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0.72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0.62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33%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/>
                        <a:t>DeBERTa-v3-large NLI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top-3 sentences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0.36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42%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/>
                        <a:t>DeBERTa-v3-large NLI fine-tuned on MedNLI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top-3 sentences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0.41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24%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/>
                        <a:t>MiniCheck DeBERTa-v3-large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top-3 sentences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41%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/>
                        <a:t>MiniCheck RoBERTa-large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whole course, windowed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0.72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0.41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0.36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18%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/>
                        <a:t>MiniCheck RoBERTa-large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top-3 sentences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37%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/>
                        <a:t>DeBERTa-v3-large cross-encoder NLI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top-3 sentences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0.69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62%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/>
                        <a:t>MiniLM cross-encoder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top-3 sentences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0.66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52%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/>
                        <a:t>DeBERTa-v3-large cross-encoder NLI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whole course, windowed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44%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/>
                        <a:t>MiniLM cross-encoder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whole course, windowed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0.58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58%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365760" y="594360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/>
              <a:t>Decision rule fixed in advance: highest kappa on all sentences, threshold chosen on the other subset. Selected: DeBERTa-v3-large NLI (whole course, windowed), kappa 0.33, AUROC 0.78, precision 0.44, recall 0.54: moderate agreement, so main-study rates are estimates from an instrument with a known error profile, and the paired comparisons carry the weight.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/>
              <a:t>Judge selection: AUROC and kappa by candidate and evidence mode</a:t>
            </a:r>
          </a:p>
        </p:txBody>
      </p:sp>
      <p:pic>
        <p:nvPicPr>
          <p:cNvPr id="3" name="Picture 2" descr="fig_judg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097280"/>
            <a:ext cx="11430000" cy="460821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603504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/>
              <a:t>Model size and training data matter more than the aggregation rule; whole-course evidence helps the large models.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/>
              <a:t>Main study design: MIMIC-IV hospital courses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/>
              <a:t>• 110 de-identified Brief Hospital Course sections (ann-pt-summ), each paired with the discharge instructions the treating clinician wrote</a:t>
            </a:r>
          </a:p>
          <a:p>
            <a:pPr>
              <a:spcAft>
                <a:spcPts val="800"/>
              </a:spcAft>
            </a:pPr>
            <a:r>
              <a:rPr sz="1600"/>
              <a:t>• Generator: Qwen2.5-7B-Instruct, 4-bit, served on the laptop with Apple MLX through an OpenAI-compatible interface; the pilot pipeline runs unchanged and no protected text leaves the machine</a:t>
            </a:r>
          </a:p>
          <a:p>
            <a:pPr>
              <a:spcAft>
                <a:spcPts val="800"/>
              </a:spcAft>
            </a:pPr>
            <a:r>
              <a:rPr sz="1600"/>
              <a:t>• Same five conditions; retrieval conditions must cite the excerpt behind every sentence; 'Not stated in the note.' allowed for unsupported sections</a:t>
            </a:r>
          </a:p>
          <a:p>
            <a:pPr>
              <a:spcAft>
                <a:spcPts val="800"/>
              </a:spcAft>
            </a:pPr>
            <a:r>
              <a:rPr sz="1600"/>
              <a:t>• Judge: DeBERTa-v3-large NLI with whole-course evidence; UFR and CR per summary; the doctor-written instructions scored as a human reference</a:t>
            </a:r>
          </a:p>
          <a:p>
            <a:pPr>
              <a:spcAft>
                <a:spcPts val="800"/>
              </a:spcAft>
            </a:pPr>
            <a:r>
              <a:rPr sz="1600"/>
              <a:t>• Coverage measured against the clinician's own instructions (judge in reverse); citation accuracy; six retrieval ablations (3- or 8-sentence chunks, top-2 or top-5, BM25, no citations)</a:t>
            </a:r>
          </a:p>
          <a:p>
            <a:pPr>
              <a:spcAft>
                <a:spcPts val="800"/>
              </a:spcAft>
            </a:pPr>
            <a:r>
              <a:rPr sz="1600"/>
              <a:t>• Question-answering pilot: medications, follow-up and warning signs; full course versus three retrieved chunks; abstention rate, UFR/CR, and support by the clinician's instructions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/>
              <a:t>Main study results (n = 110 hospital courses; judge: DeBERTa-v3-large NLI, τ = 0.20)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365760" y="1097280"/>
          <a:ext cx="11429993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79"/>
                <a:gridCol w="1417319"/>
                <a:gridCol w="1417319"/>
                <a:gridCol w="1417319"/>
                <a:gridCol w="1417319"/>
                <a:gridCol w="1417319"/>
                <a:gridCol w="1417319"/>
              </a:tblGrid>
              <a:tr h="365760">
                <a:tc>
                  <a:txBody>
                    <a:bodyPr/>
                    <a:lstStyle/>
                    <a:p>
                      <a:r>
                        <a:rPr sz="1100" b="1"/>
                        <a:t>Metric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E0 zero-context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E1 RAG excerpts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E1b RAG + course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E3 RAG + CoVe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E2 extractive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Clinician-written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/>
                        <a:t>UFR mean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0.135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0.066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0.072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0.070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0.056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0.289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/>
                        <a:t>CR mean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0.029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0.027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0.031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0.032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0.051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0.080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/>
                        <a:t>Coverage of the clinician's sentences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54.3%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36.9%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53.2%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33.6%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22.5%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—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/>
                        <a:t>Citation accuracy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71.8%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38.1%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—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/>
                        <a:t>Abstentions per summary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/>
                        <a:t>Claims per summary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16.0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8.4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13.8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7.9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4.9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8.9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/>
                        <a:t>Words per summary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261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151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228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150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133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365760" y="594360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/>
              <a:t>E1 vs E0: UFR p &lt; 0.001, CR p = 0.791, coverage p &lt; 0.001. E1b vs E0: UFR p &lt; 0.001, CR p = 0.305, coverage p = 0.449. E3 vs E0: UFR p &lt; 0.001, CR p = 0.358, coverage p &lt; 0.001. E2 vs E0: UFR p &lt; 0.001, CR p = 0.125, coverage p &lt; 0.001. Paired two-sided Wilcoxon tests on the same documents.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/>
              <a:t>Main study: per-document distributions</a:t>
            </a:r>
          </a:p>
        </p:txBody>
      </p:sp>
      <p:pic>
        <p:nvPicPr>
          <p:cNvPr id="3" name="Picture 2" descr="fig_mimic_b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097280"/>
            <a:ext cx="5577840" cy="2601014"/>
          </a:xfrm>
          <a:prstGeom prst="rect">
            <a:avLst/>
          </a:prstGeom>
        </p:spPr>
      </p:pic>
      <p:pic>
        <p:nvPicPr>
          <p:cNvPr id="4" name="Picture 3" descr="fig_mimic_cover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097280"/>
            <a:ext cx="5577840" cy="3776238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/>
              <a:t>Main study: what the results say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/>
              <a:t>• Every grounded condition cut the unsupported fact rate by about 46 percent versus zero-context (E1 0.066, E1b 0.072, E3 0.070 versus E0 0.135; all p &lt; 0.001); the three do not differ from one another; CR did not change</a:t>
            </a:r>
          </a:p>
          <a:p>
            <a:pPr>
              <a:spcAft>
                <a:spcPts val="800"/>
              </a:spcAft>
            </a:pPr>
            <a:r>
              <a:rPr sz="1600"/>
              <a:t>• Omission separates them: excerpt-only RAG covered 37% of the clinician's sentences and verification 34%, against 54% for E0; RAG with the whole course kept 53% (p = 0.449 versus E0)</a:t>
            </a:r>
          </a:p>
          <a:p>
            <a:pPr>
              <a:spcAft>
                <a:spcPts val="800"/>
              </a:spcAft>
            </a:pPr>
            <a:r>
              <a:rPr sz="1600"/>
              <a:t>• Verbatim extraction scores UFR 0.056: the judge's error floor; the grounded LLM conditions sit within a few hundredths of it</a:t>
            </a:r>
          </a:p>
          <a:p>
            <a:pPr>
              <a:spcAft>
                <a:spcPts val="800"/>
              </a:spcAft>
            </a:pPr>
            <a:r>
              <a:rPr sz="1600"/>
              <a:t>• The clinicians' own instructions score UFR 0.289 under the same judge: support by the hospital course measures source-faithfulness, not clinical correctness</a:t>
            </a:r>
          </a:p>
          <a:p>
            <a:pPr>
              <a:spcAft>
                <a:spcPts val="800"/>
              </a:spcAft>
            </a:pPr>
            <a:r>
              <a:rPr sz="1600"/>
              <a:t>• Citations: 72% accurate for excerpt-only RAG but 38% for RAG with the whole course; no retrieval setting changed faithfulness after correction for multiple comparisons (the largest effect, dropping the citation requirement, raised UFR by 0.030, p = 0.017 before correction); coverage followed the amount of retrieved text</a:t>
            </a:r>
          </a:p>
          <a:p>
            <a:pPr>
              <a:spcAft>
                <a:spcPts val="800"/>
              </a:spcAft>
            </a:pPr>
            <a:r>
              <a:rPr sz="1600"/>
              <a:t>• Question answering: abstention 23% (full course) versus 33% (excerpts), highest for warning signs, which the course rarely states; retrieval lowers unsupported answers partly by abstaining more</a:t>
            </a:r>
          </a:p>
          <a:p>
            <a:pPr>
              <a:spcAft>
                <a:spcPts val="800"/>
              </a:spcAft>
            </a:pPr>
            <a:r>
              <a:rPr sz="1600"/>
              <a:t>• Second judge (Bespoke-MiniCheck-7B, a 7B LLM checker): same ordering of conditions; flags 0.2% of verbatim extracts, so the NLI judge's 0.056 floor is judge error; confirms 40% of the selected judge's flags; grounded conditions' unsupported share bounded between 0.008 and 0.185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/>
              <a:t>Retrieval ablations: paired difference from the E1 base configuration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365760" y="1097280"/>
          <a:ext cx="11429999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00661"/>
                <a:gridCol w="1983719"/>
                <a:gridCol w="1983719"/>
                <a:gridCol w="1983719"/>
                <a:gridCol w="2078181"/>
              </a:tblGrid>
              <a:tr h="365760">
                <a:tc>
                  <a:txBody>
                    <a:bodyPr/>
                    <a:lstStyle/>
                    <a:p>
                      <a:r>
                        <a:rPr sz="1100" b="1"/>
                        <a:t>Variant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Δ UFR (p)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Δ CR (p)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Δ coverage (p)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Δ citation accuracy (p)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/>
                        <a:t>3-sentence chunks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+0.009 (p = 0.485)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+0.020 (p = 0.045)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-0.072 (p &lt; 0.001)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+0.050 (p = 0.172)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/>
                        <a:t>8-sentence chunks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-0.003 (p = 0.834)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-0.005 (p = 0.308)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+0.060 (p = 0.003)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+0.012 (p = 0.492)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/>
                        <a:t>top-2 chunks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+0.018 (p = 0.427)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+0.017 (p = 0.094)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-0.058 (p &lt; 0.001)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+0.059 (p = 0.060)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/>
                        <a:t>top-5 chunks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+0.009 (p = 0.493)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+0.000 (p = 0.838)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+0.072 (p &lt; 0.001)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-0.084 (p = 0.020)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/>
                        <a:t>BM25 retrieval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+0.007 (p = 0.596)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+0.007 (p = 0.687)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+0.028 (p = 0.177)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+0.035 (p = 0.393)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/>
                        <a:t>citations not required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+0.030 (p = 0.017)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-0.007 (p = 0.178)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+0.019 (p = 0.314)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—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365760" y="594360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/>
              <a:t>Negative UFR and CR differences and positive coverage and citation differences favor the variant. Base: 5-sentence chunks, top-3, dense retrieval, citations required.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/>
              <a:t>Question-answering pilot (three questions per course)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365760" y="1097280"/>
          <a:ext cx="11429996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3211"/>
                <a:gridCol w="1677798"/>
                <a:gridCol w="734036"/>
                <a:gridCol w="1258348"/>
                <a:gridCol w="1048623"/>
                <a:gridCol w="1048623"/>
                <a:gridCol w="3355596"/>
                <a:gridCol w="943761"/>
              </a:tblGrid>
              <a:tr h="365760">
                <a:tc>
                  <a:txBody>
                    <a:bodyPr/>
                    <a:lstStyle/>
                    <a:p>
                      <a:r>
                        <a:rPr sz="1100" b="1"/>
                        <a:t>Condition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Question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Abstained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UFR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CR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Supported by clinician's instructions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Words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/>
                        <a:t>QA-E0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330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23%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0.429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0.032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16%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31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/>
                        <a:t>QA-E0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follow 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110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15%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0.309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0.018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15%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30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/>
                        <a:t>QA-E0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medications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110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0.272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0.055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18%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41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/>
                        <a:t>QA-E0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warning signs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110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46%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0.893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0.017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13%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20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/>
                        <a:t>QA-E1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330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33%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0.307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0.032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15%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25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/>
                        <a:t>QA-E1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follow 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110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24%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0.246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0.008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15%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24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/>
                        <a:t>QA-E1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medications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110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10%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0.212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0.054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15%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36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/>
                        <a:t>QA-E1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warning signs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110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65%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0.679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0.026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15%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14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365760" y="594360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/>
              <a:t>QA-E0 answers from the full hospital course; QA-E1 from the three chunks retrieved with the question. UFR and CR are computed on answered questions only.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/>
              <a:t>Hypotheses: verdicts across both studies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365760" y="1097280"/>
          <a:ext cx="11429999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3884"/>
                <a:gridCol w="2833884"/>
                <a:gridCol w="3400661"/>
                <a:gridCol w="2361570"/>
              </a:tblGrid>
              <a:tr h="365760">
                <a:tc>
                  <a:txBody>
                    <a:bodyPr/>
                    <a:lstStyle/>
                    <a:p>
                      <a:r>
                        <a:rPr sz="1100" b="1"/>
                        <a:t>Hypothesis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Pilot (MTSamples, GPT-4o-mini)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Main study (MIMIC-IV, local model)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Verdict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/>
                        <a:t>H1: unsupported content is measurable, and the judge agrees with experts better than chance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UFR 0.811 under a judge with kappa 0.06 (chance level)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UFR 0.135, 7.8 points above the judge's floor; judge kappa 0.33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First half supported; second half supported only for the selected judge, moderately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/>
                        <a:t>H2: RAG reduces unsupported and contradicted statements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CR down 24% (p = 0.011, Holm p = 0.135); UFR unchanged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UFR down 51 percent (p &lt; 0.001); CR unchanged (p = 0.791)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Supported for unsupported facts on hospital courses; not for contradictions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/>
                        <a:t>H3: verification adds to RAG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E3 vs E1 UFR p &lt; 0.001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Selected judge: E3 = E1 (p = 0.651); second judge: 0.069 vs 0.134 (p &lt; 0.001)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Supported in the pilot; judge-dependent in the main study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365760" y="594360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/>
              <a:t>Paired two-sided Wilcoxon tests on the same documents. The main-study judge is DeBERTa-v3-large NLI selected against 1,781 expert-annotated sentences; the second judge is Bespoke-MiniCheck-7B.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/>
              <a:t>Thesis writing status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/>
              <a:t>• Complete second draft generated from the result files: 136 pages in CSUN format (1-inch margins, 12-pt Times New Roman, double-spaced, roman-numbered preliminary pages, arabic body); signature page with the full committee</a:t>
            </a:r>
          </a:p>
          <a:p>
            <a:pPr>
              <a:spcAft>
                <a:spcPts val="800"/>
              </a:spcAft>
            </a:pPr>
            <a:r>
              <a:rPr sz="1600"/>
              <a:t>• Nine chapters: 1 Introduction, 2 Literature Review, 3 Data, 4 Methodology, 5 Pilot Study on MTSamples, 6 Selecting a Valid Judge, 7 Main Study on MIMIC-IV, 8 Discussion, 9 Conclusion; IEEE references with DOIs; Appendices A to E (prompts, per-document results, worked examples, repository, threshold sweep)</a:t>
            </a:r>
          </a:p>
          <a:p>
            <a:pPr>
              <a:spcAft>
                <a:spcPts val="800"/>
              </a:spcAft>
            </a:pPr>
            <a:r>
              <a:rPr sz="1600"/>
              <a:t>• Project status: all experiments promised in the proposal are complete (judge validation and selection, five conditions on MTSamples and on 110 MIMIC-IV hospital courses, coverage against the clinician's instructions, citation accuracy, six retrieval ablations, question-answering pilot), plus a second-judge robustness check on all 6,588 main-study claims</a:t>
            </a:r>
          </a:p>
          <a:p>
            <a:pPr>
              <a:spcAft>
                <a:spcPts val="800"/>
              </a:spcAft>
            </a:pPr>
            <a:r>
              <a:rPr sz="1600"/>
              <a:t>• Administrative status: committee confirmed (Dr. Wang, chair; Dr. Ebrahimi; Dr. McIlhenny); ETD planning form submitted</a:t>
            </a:r>
          </a:p>
          <a:p>
            <a:pPr>
              <a:spcAft>
                <a:spcPts val="800"/>
              </a:spcAft>
            </a:pPr>
            <a:r>
              <a:rPr sz="1600"/>
              <a:t>• Every table and figure is regenerated by one command from the result files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/>
              <a:t>Revisions in the second draft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/>
              <a:t>• Committee members added to the signature page; acknowledgments rewritten</a:t>
            </a:r>
          </a:p>
          <a:p>
            <a:pPr>
              <a:spcAft>
                <a:spcPts val="800"/>
              </a:spcAft>
            </a:pPr>
            <a:r>
              <a:rPr sz="1600"/>
              <a:t>• Statistics corrected: the retrieval-ablation effects on faithfulness are now reported with Holm-adjusted p-values and do not survive the correction (coverage effects do); the pilot's Holm family is described correctly as all twenty pairwise tests</a:t>
            </a:r>
          </a:p>
          <a:p>
            <a:pPr>
              <a:spcAft>
                <a:spcPts val="800"/>
              </a:spcAft>
            </a:pPr>
            <a:r>
              <a:rPr sz="1600"/>
              <a:t>• Hypotheses H1 to H3 answered across both studies in Chapter 8; paired tests added under the second judge (verification best under that judge, p &lt; 0.001)</a:t>
            </a:r>
          </a:p>
          <a:p>
            <a:pPr>
              <a:spcAft>
                <a:spcPts val="800"/>
              </a:spcAft>
            </a:pPr>
            <a:r>
              <a:rPr sz="1600"/>
              <a:t>• Literature review extended with grounding-specific checkers (MiniCheck), evidence on unreliable factuality metrics (Godbole and Jia 2025; FaithBench 2025) and clinical fact verification at scale (VeriFact 2026)</a:t>
            </a:r>
          </a:p>
          <a:p>
            <a:pPr>
              <a:spcAft>
                <a:spcPts val="800"/>
              </a:spcAft>
            </a:pPr>
            <a:r>
              <a:rPr sz="1600"/>
              <a:t>• Consistency pass: Chapters 1 to 4 brought in line with the main study (scope, data sources, methodology overview, section numbering), the comparison of approaches in Section 8.4 rewritten for both studies, spelling and figure captions corrected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/>
              <a:t>Plan to the defense (aligned with CSUN ETD deadlines)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365760" y="1097280"/>
          <a:ext cx="11429999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56033"/>
                <a:gridCol w="8973966"/>
              </a:tblGrid>
              <a:tr h="365760">
                <a:tc>
                  <a:txBody>
                    <a:bodyPr/>
                    <a:lstStyle/>
                    <a:p>
                      <a:r>
                        <a:rPr sz="1100" b="1"/>
                        <a:t>By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Milestone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/>
                        <a:t>Oct 9, 2026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ETD Planning Form submitted; committee confirmed (done)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/>
                        <a:t>Mid-October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Second draft and progress report submitted; advisor review of the second draft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/>
                        <a:t>Oct 23, 2026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Advisor approval; Canvas upload and Turnitin similarity check (20% or lower)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/>
                        <a:t>Oct 23 to Nov 6, 2026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Draft to committee (at least two weeks of review); Doodle poll with 1-hour slots over 3 to 4 weeks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/>
                        <a:t>Nov 6, 2026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ETD preliminary format review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/>
                        <a:t>Nov 16 to 24, 2026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Defense on CSUN Zoom (40 min presentation, 10 min Q&amp;A, 10 min deliberation); slides to advisor one week before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/>
                        <a:t>Dec 4, 2026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Final ETD upload after revisions; committee approval in the ETD system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365760" y="594360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/>
              <a:t>The defense is planned before the December 4 ETD deadline, as the committee approves the thesis inside the ETD system.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/>
              <a:t>Risks and requests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/>
              <a:t>• Judge validity: the selected judge agrees with experts moderately (kappa 0.33); main-study rates are reported with this error profile and bounded by a second judge, and conclusions rest on paired comparisons</a:t>
            </a:r>
          </a:p>
          <a:p>
            <a:pPr>
              <a:spcAft>
                <a:spcPts val="800"/>
              </a:spcAft>
            </a:pPr>
            <a:r>
              <a:rPr sz="1600"/>
              <a:t>• Generator difference: the pilot used GPT-4o-mini on public notes and the main study a 7-billion-parameter local model on MIMIC-IV, so the two studies are compared qualitatively</a:t>
            </a:r>
          </a:p>
          <a:p>
            <a:pPr>
              <a:spcAft>
                <a:spcPts val="800"/>
              </a:spcAft>
            </a:pPr>
            <a:r>
              <a:rPr sz="1600"/>
              <a:t>• Schedule: advisor approval, the Turnitin check and two weeks of committee review must all precede the November 6 format review</a:t>
            </a:r>
          </a:p>
          <a:p>
            <a:pPr>
              <a:spcAft>
                <a:spcPts val="800"/>
              </a:spcAft>
            </a:pPr>
            <a:r>
              <a:rPr sz="1600"/>
              <a:t>• Requests to the advisor: review the second draft and approve it for distribution to the committee; advise on the defense window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