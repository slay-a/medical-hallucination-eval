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/>
              <a:t>Evaluating and Reducing Hallucinations in LLM-Based Medical Report Summarization</a:t>
            </a:r>
          </a:p>
          <a:p>
            <a:r>
              <a:rPr sz="1800"/>
              <a:t>Progress Report, Fall 2026 (COMP 698C)</a:t>
            </a:r>
          </a:p>
          <a:p>
            <a:r>
              <a:rPr sz="1800"/>
              <a:t>Srilaya Ponangi, M.S. Computer Science</a:t>
            </a:r>
          </a:p>
          <a:p>
            <a:r>
              <a:rPr sz="1800"/>
              <a:t>Advisor: Dr. Taehyung (George) Wang</a:t>
            </a:r>
          </a:p>
          <a:p>
            <a:r>
              <a:rPr sz="1800"/>
              <a:t>California State University, Northridge, September 14,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Project and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Goal: measure hallucinations in LLM patient-facing summaries at the claim level and test whether retrieval grounding reduces them</a:t>
            </a:r>
          </a:p>
          <a:p>
            <a:pPr>
              <a:spcAft>
                <a:spcPts val="800"/>
              </a:spcAft>
            </a:pPr>
            <a:r>
              <a:rPr sz="1600"/>
              <a:t>• RQ1: how often are GPT-4o-mini summary statements unsupported by or contradicting the note (claim-level NLI judge)?</a:t>
            </a:r>
          </a:p>
          <a:p>
            <a:pPr>
              <a:spcAft>
                <a:spcPts val="800"/>
              </a:spcAft>
            </a:pPr>
            <a:r>
              <a:rPr sz="1600"/>
              <a:t>• RQ2: which statements are unsupported, and how does the judge itself err against medical experts?</a:t>
            </a:r>
          </a:p>
          <a:p>
            <a:pPr>
              <a:spcAft>
                <a:spcPts val="800"/>
              </a:spcAft>
            </a:pPr>
            <a:r>
              <a:rPr sz="1600"/>
              <a:t>• RQ3: does document-grounded RAG reduce unsupported and contradicted statements, versus an extractive bound, and at what coverage cost?</a:t>
            </a:r>
          </a:p>
          <a:p>
            <a:pPr>
              <a:spcAft>
                <a:spcPts val="800"/>
              </a:spcAft>
            </a:pPr>
            <a:r>
              <a:rPr sz="1600"/>
              <a:t>• Five conditions compared on 50 MTSamples notes: E0 zero-context LLM, E1 RAG (excerpts only), E1b RAG (note + excerpts), E3 RAG + Chain-of-Verification, E2 centroid extractive</a:t>
            </a:r>
          </a:p>
          <a:p>
            <a:pPr>
              <a:spcAft>
                <a:spcPts val="800"/>
              </a:spcAft>
            </a:pPr>
            <a:r>
              <a:rPr sz="1600"/>
              <a:t>• Judge: spaCy claims, all-MiniLM-L6-v2 retrieval (top-3), cross-encoder/nli-MiniLM2-L6-H768; metrics UFR and CR per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Pipeline (identical judge for every condition)</a:t>
            </a:r>
          </a:p>
        </p:txBody>
      </p:sp>
      <p:pic>
        <p:nvPicPr>
          <p:cNvPr id="3" name="Picture 2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71004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Every summary is scored by the same claim-level NLI judge; evidence is retrieved from the same note.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MTSamples (public): 4,999 transcriptions, 624 eligible consult and discharge notes, 50 sampled (seed 42); 2,016 claims labeled</a:t>
            </a:r>
          </a:p>
          <a:p>
            <a:pPr>
              <a:spcAft>
                <a:spcPts val="800"/>
              </a:spcAft>
            </a:pPr>
            <a:r>
              <a:rPr sz="1600"/>
              <a:t>• MIMIC-IV-Note v2.2 (PhysioNet, credentialed): downloaded May 14, 2026, integrity verified; staged for a future local-model re-run, not sent to any API</a:t>
            </a:r>
          </a:p>
          <a:p>
            <a:pPr>
              <a:spcAft>
                <a:spcPts val="800"/>
              </a:spcAft>
            </a:pPr>
            <a:r>
              <a:rPr sz="1600"/>
              <a:t>• ann-pt-summ v1.0.1 (PhysioNet, DUA signed): 210 expert-annotated patient summaries, 423 unsupported-fact spans; used to validate the judge with local models</a:t>
            </a:r>
          </a:p>
          <a:p>
            <a:pPr>
              <a:spcAft>
                <a:spcPts val="800"/>
              </a:spcAft>
            </a:pPr>
            <a:r>
              <a:rPr sz="1600"/>
              <a:t>• The PhysioNet archive download was incomplete (934 MB of &gt;3.4 GB); the 14 annotation files were extracted and verified against the SHA-256 manifest</a:t>
            </a:r>
          </a:p>
          <a:p>
            <a:pPr>
              <a:spcAft>
                <a:spcPts val="800"/>
              </a:spcAft>
            </a:pPr>
            <a:r>
              <a:rPr sz="1600"/>
              <a:t>• Ethics: CITI 'Data or Specimens Only Research' and 'Conflicts of Interest' completed April 10, 2026; no credentialed text leaves the laptop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Corrections since the May 2026 report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661"/>
                <a:gridCol w="4345289"/>
                <a:gridCol w="368404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Issue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Correction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Effect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Markdown headers ('**Key Findings:**') counted as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Header filter; 131 E0 and 31 E1 header lines removed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E1 vs E0 CR effect: -0.073 (p &lt; 0.001) → -0.042 (p = 0.011)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E1 described as 'note + excerpts', overlapping chunks, structured 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Description corrected: excerpts only; non-overlapping 5-sentence chunks; query = description + first 300 chars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Adds E1b (note + excerpts) as an implemented extension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NLI rule described as argmax over a concatenated premise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Corrected: max over 3 separate pairs, 0.5 thresholds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Aggregation variants now tested against experts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'48 percentage-point' median CR drop; Xie et al. mis-citation; APA/IEEE mix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Arithmetic fixed; citation replaced (Asgari 2025); IEEE with DOIs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64-entry reference list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requirements.txt missing 4 packages; 'bootstrap CIs' claimed but absent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Packages added; bootstrap CIs, effect sizes, Holm adjustment implemented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bash run.sh --offline reproduces every number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Main results (n = 50 documents; header lines and abstentions excluded)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8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9183"/>
                <a:gridCol w="1726163"/>
                <a:gridCol w="1726163"/>
                <a:gridCol w="1726163"/>
                <a:gridCol w="1726163"/>
                <a:gridCol w="172616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E0 zero-context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 RAG excerpts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E1b RAG + note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E3 RAG + CoVe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E2 extractive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UFR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0.122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CR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0.096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Supported share of claims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89%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Claims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4.8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Words per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Coverage of source sentences (cos ≥ 0.6)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18.3%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Paired Wilcoxon versus E0: E1 CR p = 0.011 (−24%), E1 UFR p = 0.977; E1b UFR p = 0.020; E3 UFR p &lt; 0.001 (−15%; versus E1 p &lt; 0.001), E3 CR p = 0.913; E2 UFR p &lt; 0.001. Verification lowers unsupported facts the most, by deleting claims and abstaining; retrieval alone lowers contradictions modestly; the extractive bound has a non-zero judge error floor.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Contradiction rate: distributions and per-document pairs</a:t>
            </a:r>
          </a:p>
        </p:txBody>
      </p:sp>
      <p:pic>
        <p:nvPicPr>
          <p:cNvPr id="3" name="Picture 2" descr="fig_cr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4055280"/>
          </a:xfrm>
          <a:prstGeom prst="rect">
            <a:avLst/>
          </a:prstGeom>
        </p:spPr>
      </p:pic>
      <p:pic>
        <p:nvPicPr>
          <p:cNvPr id="4" name="Picture 3" descr="fig_c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539664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Headline finding: the judge disagrees with medical experts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5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405"/>
                <a:gridCol w="1235675"/>
                <a:gridCol w="1544594"/>
                <a:gridCol w="1956486"/>
                <a:gridCol w="1235675"/>
                <a:gridCol w="1132702"/>
                <a:gridCol w="1029729"/>
                <a:gridCol w="102972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Sentences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Expert-flagged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Judge-flagged (UFR)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Kappa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AUROC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1,781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generated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doctor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976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llama 70b original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gpt4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151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87.4%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0.50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On 1,781 expert-annotated sentences the judge flags 84% where experts flag 20%; kappa 0.06 is chance level, and the judge ranks systems in nearly the reverse order of the experts. Absolute UFR/CR are not hallucination rates.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No aggregation rule rescues the judge</a:t>
            </a:r>
          </a:p>
        </p:txBody>
      </p:sp>
      <p:pic>
        <p:nvPicPr>
          <p:cNvPr id="3" name="Picture 2" descr="fig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1960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03504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Best kappa over all variants and thresholds: 0.14; best AUROC 0.66. The limiting factor is the small general-domain NLI model on paraphrased patient-facing sentences.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Robustness: the RAG effect holds only at the default threshold</a:t>
            </a:r>
          </a:p>
        </p:txBody>
      </p:sp>
      <p:pic>
        <p:nvPicPr>
          <p:cNvPr id="3" name="Picture 2" descr="fig_threshol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2542789"/>
          </a:xfrm>
          <a:prstGeom prst="rect">
            <a:avLst/>
          </a:prstGeom>
        </p:spPr>
      </p:pic>
      <p:pic>
        <p:nvPicPr>
          <p:cNvPr id="4" name="Picture 3" descr="fig_topk_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259205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What remains unsupported, and the judge's own errors</a:t>
            </a:r>
          </a:p>
        </p:txBody>
      </p:sp>
      <p:pic>
        <p:nvPicPr>
          <p:cNvPr id="3" name="Picture 2" descr="fig_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3315383"/>
          </a:xfrm>
          <a:prstGeom prst="rect">
            <a:avLst/>
          </a:prstGeom>
        </p:spPr>
      </p:pic>
      <p:pic>
        <p:nvPicPr>
          <p:cNvPr id="4" name="Picture 3" descr="fig_e2_pr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577840" cy="48493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Thesis writing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Complete draft generated from the result files: 107 pages in CSUN format (1-inch margins, 12-pt Times New Roman, double-spaced, roman-numbered preliminary pages, arabic body)</a:t>
            </a:r>
          </a:p>
          <a:p>
            <a:pPr>
              <a:spcAft>
                <a:spcPts val="800"/>
              </a:spcAft>
            </a:pPr>
            <a:r>
              <a:rPr sz="1600"/>
              <a:t>• Chapters: 1 Introduction, 2 Literature Review, 3 Data and Preprocessing, 4 Methodology, 5 Results, 6 Discussion, 7 Conclusion and Future Work; 64 IEEE references with DOIs; Appendices A to E (prompts, per-document results, worked examples, repository, threshold sweep)</a:t>
            </a:r>
          </a:p>
          <a:p>
            <a:pPr>
              <a:spcAft>
                <a:spcPts val="800"/>
              </a:spcAft>
            </a:pPr>
            <a:r>
              <a:rPr sz="1600"/>
              <a:t>• New content since May: two new conditions (E1b, E3), header-filter correction, judge validation against expert annotations, five aggregation variants, threshold/top-k/cleaned-evidence ablations, coverage proxy, negation analysis, error taxonomy, ethics and governance section</a:t>
            </a:r>
          </a:p>
          <a:p>
            <a:pPr>
              <a:spcAft>
                <a:spcPts val="800"/>
              </a:spcAft>
            </a:pPr>
            <a:r>
              <a:rPr sz="1600"/>
              <a:t>• Open items: committee member names on the signature page; advisor review; title alignment with the ETD planning form (question answering removed from scope)</a:t>
            </a:r>
          </a:p>
          <a:p>
            <a:pPr>
              <a:spcAft>
                <a:spcPts val="800"/>
              </a:spcAft>
            </a:pPr>
            <a:r>
              <a:rPr sz="1600"/>
              <a:t>• Every table and figure is regenerated by one command; the document rebuilds in about two minutes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Plan to the defense (aligned with CSUN ETD deadlines)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2999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107"/>
                <a:gridCol w="916289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Milestone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19,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Advisor review of this complete draft; committee names confirmed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Sep 30,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Sampling-variance runs (several generations per note) if API budget allows; optional MIMIC re-run with a local open-weight generator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9,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Planning Form filed (title without question answering)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16,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Revised draft to advisor for approval; Canvas upload and Turnitin check after approval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Oct 30,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Draft to committee (two-week review); Doodle poll with 1-hour slots over 3 to 4 weeks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ETD preliminary format review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Nov 16 to 24,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Defense (40 min presentation, 10 min Q&amp;A); slides to advisor one week before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/>
                        <a:t>Dec 4,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Final ETD upload after revisions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The December 12 defense date in the May report is after the December 4 ETD deadline and has been moved.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Risks and requests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/>
              <a:t>• Judge validity: the central instrument agrees with experts at chance level; the thesis reports this as its main methodological finding and proposes stronger judges as future work</a:t>
            </a:r>
          </a:p>
          <a:p>
            <a:pPr>
              <a:spcAft>
                <a:spcPts val="800"/>
              </a:spcAft>
            </a:pPr>
            <a:r>
              <a:rPr sz="1600"/>
              <a:t>• MIMIC generation: requires a zero-data-retention agreement or a local open-weight model; kept optional</a:t>
            </a:r>
          </a:p>
          <a:p>
            <a:pPr>
              <a:spcAft>
                <a:spcPts val="800"/>
              </a:spcAft>
            </a:pPr>
            <a:r>
              <a:rPr sz="1600"/>
              <a:t>• Schedule: two weeks of committee review plus advisor approval must precede the Nov 6 format review</a:t>
            </a:r>
          </a:p>
          <a:p>
            <a:pPr>
              <a:spcAft>
                <a:spcPts val="800"/>
              </a:spcAft>
            </a:pPr>
            <a:r>
              <a:rPr sz="1600"/>
              <a:t>• Request to advisor: confirm committee members, review the complete draft, and advise on the title change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