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Advisor: Dr. Taehyung (George) Wang</a:t>
            </a:r>
          </a:p>
          <a:p>
            <a:r>
              <a:rPr sz="1800"/>
              <a:t>California State University, Northridge, September 15,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Goal and research questions (from the proposal)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LLM-generated patient-facing summaries at the claim level with a judge validated against medical experts, and test whether retrieval grounding and verification reduce them on real clinical notes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LLM summary statements unsupported by, or contradicting, the source note?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well does the automatic judge agree with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 retrieval-augmented generation and verification reduce unsupported and contradicted statements, compared with an extractive bound, and at what cost in coverage?</a:t>
            </a:r>
          </a:p>
          <a:p>
            <a:pPr>
              <a:spcAft>
                <a:spcPts val="800"/>
              </a:spcAft>
            </a:pPr>
            <a:r>
              <a:rPr sz="1600"/>
              <a:t>• Two tasks in the proposal: summarization (main task) and document-grounded question answering (piloted with abstention)</a:t>
            </a:r>
          </a:p>
          <a:p>
            <a:pPr>
              <a:spcAft>
                <a:spcPts val="800"/>
              </a:spcAft>
            </a:pPr>
            <a:r>
              <a:rPr sz="1600"/>
              <a:t>• Three studies: pilot on public MTSamples notes with GPT-4o-mini; judge selection against expert labels; main study on MIMIC-IV hospital courses with a locally run open-weight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Proposal commitments and where they stand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5289"/>
                <a:gridCol w="70847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Commitment in the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Claim-level NLI judge calibrated against expert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pilot judge validated (kappa 0.06); five candidates compared; DeBERTa-v3-large NLI selected (kappa 0.33, AUROC 0.78)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Experiments on MIMIC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Generation complete or in progress on 110 MIMIC-IV hospital courses with a local Qwen2.5-7B-Instruct; evaluation pending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RAG, verification and an extractive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 in both studies: E0 zero-context, E1 RAG (excerpts), E1b RAG (note + excerpts), E3 RAG + Chain-of-Verification, 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against a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share of the clinician-written discharge-instruction sentences that the generated summary supports (judge run in reverse)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retrieval conditions cite an excerpt after every sentence; the judge checks each citation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Retrieval ablations (chunk size, top-k, BM25 vs dense, citations)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six E1 variants on the same documents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Question answering with 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Pilot: three questions per course (medications, follow-up, warning signs), full course vs retrieved excerpts, 'Not stated in the note.' allowed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comes from the same source document.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pilot claims labeled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 with 423 unsupported-fact spans for judge validation and selection; its 110 MIMIC-IV hospital courses with clinician-written discharge instructions are the main-study corpus</a:t>
            </a:r>
          </a:p>
          <a:p>
            <a:pPr>
              <a:spcAft>
                <a:spcPts val="800"/>
              </a:spcAft>
            </a:pPr>
            <a:r>
              <a:rPr sz="1600"/>
              <a:t>• MedNLI v1.0.0 (PhysioNet, DUA signed): 14,049 clinician-written premise and hypothesis pairs from MIMIC-III, used to adapt the judge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and verified in May 2026; the source of the hospital courses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every credentialed text is processed by models running on the author's laptop; nothing is sent to an API or to cloud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study: five conditions on 50 MTSamples notes (GPT-4o-mini, MiniLM judge)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most; retrieval alone lowers contradictions modestly; the extractive bound exposes a non-zero judge error floor. Header lines and abstentions excluded.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headline: the small MiniLM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pilot judge flags 84% where experts flag 20%; kappa 0.06 is chance level; no aggregation variant raised kappa above 0.14. This motivated the judge selection study.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candidates scored against the expert annotations (1,781 sentences)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2016"/>
                <a:gridCol w="1921008"/>
                <a:gridCol w="1056554"/>
                <a:gridCol w="1248655"/>
                <a:gridCol w="1056554"/>
                <a:gridCol w="1056554"/>
                <a:gridCol w="1248655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Flag rate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37%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Decision rule fixed in advance: highest kappa on all sentences, threshold chosen on the other subset. Selected: DeBERTa-v3-large NLI (whole course, windowed), kappa 0.33, AUROC 0.78, precision 0.44, recall 0.54: moderate agreement, so main-study rates are estimates from an instrument with a known error profile, and the paired comparisons carry the weight.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AUROC and kappa by candidate and evidence mode</a:t>
            </a:r>
          </a:p>
        </p:txBody>
      </p:sp>
      <p:pic>
        <p:nvPicPr>
          <p:cNvPr id="3" name="Picture 2" descr="fig_ju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84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Model size and training data matter more than the aggregation rule; whole-course evidence helps the large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design: MIMIC-IV hospital courses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110 de-identified Brief Hospital Course sections (ann-pt-summ), each paired with the discharge instructions the treating clinician wrote</a:t>
            </a:r>
          </a:p>
          <a:p>
            <a:pPr>
              <a:spcAft>
                <a:spcPts val="800"/>
              </a:spcAft>
            </a:pPr>
            <a:r>
              <a:rPr sz="1600"/>
              <a:t>• Generator: Qwen2.5-7B-Instruct, 4-bit, served on the laptop with Apple MLX through an OpenAI-compatible interface; the pilot pipeline runs unchanged and no protected text leaves the machine</a:t>
            </a:r>
          </a:p>
          <a:p>
            <a:pPr>
              <a:spcAft>
                <a:spcPts val="800"/>
              </a:spcAft>
            </a:pPr>
            <a:r>
              <a:rPr sz="1600"/>
              <a:t>• Same five conditions; retrieval conditions must cite the excerpt behind every sentence; 'Not stated in the note.' allowed for unsupported sections</a:t>
            </a:r>
          </a:p>
          <a:p>
            <a:pPr>
              <a:spcAft>
                <a:spcPts val="800"/>
              </a:spcAft>
            </a:pPr>
            <a:r>
              <a:rPr sz="1600"/>
              <a:t>• Judge: DeBERTa-v3-large NLI with whole-course evidence; UFR and CR per summary; the doctor-written instructions scored as a human reference</a:t>
            </a:r>
          </a:p>
          <a:p>
            <a:pPr>
              <a:spcAft>
                <a:spcPts val="800"/>
              </a:spcAft>
            </a:pPr>
            <a:r>
              <a:rPr sz="1600"/>
              <a:t>• Coverage measured against the clinician's own instructions (judge in reverse); citation accuracy; six retrieval ablations (3- or 8-sentence chunks, top-2 or top-5, BM25, no citations)</a:t>
            </a:r>
          </a:p>
          <a:p>
            <a:pPr>
              <a:spcAft>
                <a:spcPts val="800"/>
              </a:spcAft>
            </a:pPr>
            <a:r>
              <a:rPr sz="1600"/>
              <a:t>• Question-answering pilot: medications, follow-up and warning signs; full course versus three retrieved chunks; abstention rate, UFR/CR, and support by the clinician's instructions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Generation of the five conditions and six retrieval variants on the 110 hospital courses is running on the laptop (about five minutes per course with the local model)</a:t>
            </a:r>
          </a:p>
          <a:p>
            <a:pPr>
              <a:spcAft>
                <a:spcPts val="800"/>
              </a:spcAft>
            </a:pPr>
            <a:r>
              <a:rPr sz="1600"/>
              <a:t>• Evaluation with the selected judge, the question-answering pilot and the figures follow automatically; the thesis chapters read the result files when they exist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draft generated from the result files: 107 pages in CSUN format (1-inch margins, 12-pt Times New Roman, double-spaced, roman-numbered preliminary pages, arabic body)</a:t>
            </a:r>
          </a:p>
          <a:p>
            <a:pPr>
              <a:spcAft>
                <a:spcPts val="800"/>
              </a:spcAft>
            </a:pPr>
            <a:r>
              <a:rPr sz="1600"/>
              <a:t>• Nine chapters: 1 Introduction, 2 Literature Review, 3 Data, 4 Methodology, 5 Pilot Study on MTSamples, 6 Selecting a Valid Judge, 7 Main Study on MIMIC-IV, 8 Discussion, 9 Conclusion;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Since the September 4 draft: judge selection study, MedNLI adaptation, main study on MIMIC-IV with a local model (citations, coverage against the clinician's instructions, citation accuracy, ablations), question-answering pilot</a:t>
            </a:r>
          </a:p>
          <a:p>
            <a:pPr>
              <a:spcAft>
                <a:spcPts val="800"/>
              </a:spcAft>
            </a:pPr>
            <a:r>
              <a:rPr sz="1600"/>
              <a:t>• Open items: committee composition to be confirmed with the advisor; advisor review of the draft; final title on the ETD planning form (with or without 'and Question Answering')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 from the result files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07"/>
                <a:gridCol w="916289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22,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review of the complete draft; committee composition discussed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filed (title and committee)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16,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Revised draft to advisor for approval; Canvas upload and Turnitin check after approval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(two-week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(40 min presentation, 10 min Q&amp;A);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December 12 defense date in the May report is after the December 4 ETD deadline and has been moved.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selected judge agrees with experts moderately (kappa 0.33); main-study rates are reported with this error profile, and conclusions rest on paired comparisons</a:t>
            </a:r>
          </a:p>
          <a:p>
            <a:pPr>
              <a:spcAft>
                <a:spcPts val="800"/>
              </a:spcAft>
            </a:pPr>
            <a:r>
              <a:rPr sz="1600"/>
              <a:t>• Generator difference: the pilot used GPT-4o-mini on public notes and the main study a 7-billion-parameter local model on MIMIC-IV, so the two studies are compared qualitatively</a:t>
            </a:r>
          </a:p>
          <a:p>
            <a:pPr>
              <a:spcAft>
                <a:spcPts val="800"/>
              </a:spcAft>
            </a:pPr>
            <a:r>
              <a:rPr sz="1600"/>
              <a:t>• Schedule: advisor approval, Turnitin and two weeks of committee review must all precede the November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Requests to the advisor: review the complete draft, confirm the committee, and decide the final title for the ETD planning 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