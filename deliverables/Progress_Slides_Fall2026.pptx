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Goal and research questions (from the proposal)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LLM-generated patient-facing summaries at the claim level with a judge validated against medical experts, and test whether retrieval grounding and verification reduce them on real clinical notes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LLM summary statements unsupported by, or contradicting, the source note?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well does the automatic judge agree with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 retrieval-augmented generation and verification reduce unsupported and contradicted statements, compared with an extractive bound, and at what cost in coverage?</a:t>
            </a:r>
          </a:p>
          <a:p>
            <a:pPr>
              <a:spcAft>
                <a:spcPts val="800"/>
              </a:spcAft>
            </a:pPr>
            <a:r>
              <a:rPr sz="1600"/>
              <a:t>• Two tasks in the proposal: summarization (main task) and document-grounded question answering (piloted with abstention)</a:t>
            </a:r>
          </a:p>
          <a:p>
            <a:pPr>
              <a:spcAft>
                <a:spcPts val="800"/>
              </a:spcAft>
            </a:pPr>
            <a:r>
              <a:rPr sz="1600"/>
              <a:t>• Three studies: pilot on public MTSamples notes with GPT-4o-mini; judge selection against expert labels; main study on MIMIC-IV hospital courses with a locally run open-weight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Proposal commitments and where they stand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5289"/>
                <a:gridCol w="708471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Commitment in the proposal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Claim-level NLI judge calibrated against expert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pilot judge validated (kappa 0.06); five candidates compared; DeBERTa-v3-large NLI selected (kappa 0.33, AUROC 0.78); MedNLI fine-tune: dev accuracy 87.8%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Experiments on MIMIC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110 MIMIC-IV hospital courses, Qwen2.5-7B-Instruct served locally, no protected text leaves the laptop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RAG, verification and an extractive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 in both studies: E0 zero-context, E1 RAG (excerpts), E1b RAG (note + excerpts), E3 RAG + Chain-of-Verification, 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against a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share of the clinician-written discharge-instruction sentences that the generated summary supports (judge run in reverse)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retrieval conditions cite an excerpt after every sentence; the judge checks each citation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Retrieval ablations (chunk size, top-k, BM25 vs dense, citations)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Done: six E1 variants on the same documents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Question answering with abstention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Pilot: three questions per course (medications, follow-up, warning signs), full course vs retrieved excerpts, 'Not stated in the note.' allowed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comes from the same source document.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pilot claims labeled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 with 423 unsupported-fact spans for judge validation and selection; its 110 MIMIC-IV hospital courses with clinician-written discharge instructions are the main-study corpus</a:t>
            </a:r>
          </a:p>
          <a:p>
            <a:pPr>
              <a:spcAft>
                <a:spcPts val="800"/>
              </a:spcAft>
            </a:pPr>
            <a:r>
              <a:rPr sz="1600"/>
              <a:t>• MedNLI v1.0.0 (PhysioNet, DUA signed): 14,049 clinician-written premise and hypothesis pairs from MIMIC-III, used to adapt the judge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and verified in May 2026; the source of the hospital courses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every credentialed text is processed by models running on the author's laptop; nothing is sent to an API or to cloud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study: five conditions on 50 MTSamples notes (GPT-4o-mini, MiniLM judge)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most; retrieval alone lowers contradictions modestly; the extractive bound exposes a non-zero judge error floor. Header lines and abstentions excluded.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Pilot headline: the small MiniLM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pilot judge flags 84% where experts flag 20%; kappa 0.06 is chance level; no aggregation variant raised kappa above 0.14. This motivated the judge selection study.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candidates scored against the expert annotations (1,781 sentences)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2016"/>
                <a:gridCol w="1921008"/>
                <a:gridCol w="1056554"/>
                <a:gridCol w="1248655"/>
                <a:gridCol w="1056554"/>
                <a:gridCol w="1056554"/>
                <a:gridCol w="1248655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Judge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Flag rate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NLI fine-tuned on MedNLI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DeBERTa-v3-large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MiniCheck RoBERTa-large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37%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top-3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DeBERTa-v3-large cross-encoder NLI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44%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MiniLM cross-encoder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whole course, windowed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58%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Decision rule fixed in advance: highest kappa on all sentences, threshold chosen on the other subset. Selected: DeBERTa-v3-large NLI (whole course, windowed), kappa 0.33, AUROC 0.78, precision 0.44, recall 0.54: moderate agreement, so main-study rates are estimates from an instrument with a known error profile, and the paired comparisons carry the weight.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Judge selection: AUROC and kappa by candidate and evidence mode</a:t>
            </a:r>
          </a:p>
        </p:txBody>
      </p:sp>
      <p:pic>
        <p:nvPicPr>
          <p:cNvPr id="3" name="Picture 2" descr="fig_ju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46082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Model size and training data matter more than the aggregation rule; whole-course evidence helps the large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design: MIMIC-IV hospital courses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110 de-identified Brief Hospital Course sections (ann-pt-summ), each paired with the discharge instructions the treating clinician wrote</a:t>
            </a:r>
          </a:p>
          <a:p>
            <a:pPr>
              <a:spcAft>
                <a:spcPts val="800"/>
              </a:spcAft>
            </a:pPr>
            <a:r>
              <a:rPr sz="1600"/>
              <a:t>• Generator: Qwen2.5-7B-Instruct, 4-bit, served on the laptop with Apple MLX through an OpenAI-compatible interface; the pilot pipeline runs unchanged and no protected text leaves the machine</a:t>
            </a:r>
          </a:p>
          <a:p>
            <a:pPr>
              <a:spcAft>
                <a:spcPts val="800"/>
              </a:spcAft>
            </a:pPr>
            <a:r>
              <a:rPr sz="1600"/>
              <a:t>• Same five conditions; retrieval conditions must cite the excerpt behind every sentence; 'Not stated in the note.' allowed for unsupported sections</a:t>
            </a:r>
          </a:p>
          <a:p>
            <a:pPr>
              <a:spcAft>
                <a:spcPts val="800"/>
              </a:spcAft>
            </a:pPr>
            <a:r>
              <a:rPr sz="1600"/>
              <a:t>• Judge: DeBERTa-v3-large NLI with whole-course evidence; UFR and CR per summary; the doctor-written instructions scored as a human reference</a:t>
            </a:r>
          </a:p>
          <a:p>
            <a:pPr>
              <a:spcAft>
                <a:spcPts val="800"/>
              </a:spcAft>
            </a:pPr>
            <a:r>
              <a:rPr sz="1600"/>
              <a:t>• Coverage measured against the clinician's own instructions (judge in reverse); citation accuracy; six retrieval ablations (3- or 8-sentence chunks, top-2 or top-5, BM25, no citations)</a:t>
            </a:r>
          </a:p>
          <a:p>
            <a:pPr>
              <a:spcAft>
                <a:spcPts val="800"/>
              </a:spcAft>
            </a:pPr>
            <a:r>
              <a:rPr sz="1600"/>
              <a:t>• Question-answering pilot: medications, follow-up and warning signs; full course versus three retrieved chunks; abstention rate, UFR/CR, and support by the clinician's instructions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 results (n = 110 hospital courses; judge: DeBERTa-v3-large NLI, τ = 0.20)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79"/>
                <a:gridCol w="1417319"/>
                <a:gridCol w="1417319"/>
                <a:gridCol w="1417319"/>
                <a:gridCol w="1417319"/>
                <a:gridCol w="1417319"/>
                <a:gridCol w="141731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course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Clinician-written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0.289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the clinician's 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Abstentions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E1 vs E0: UFR p &lt; 0.001, CR p = 0.791, coverage p &lt; 0.001. E1b vs E0: UFR p &lt; 0.001, CR p = 0.305, coverage p = 0.449. E3 vs E0: UFR p &lt; 0.001, CR p = 0.358, coverage p &lt; 0.001. E2 vs E0: UFR p &lt; 0.001, CR p = 0.125, coverage p &lt; 0.001. Paired two-sided Wilcoxon tests on the same documents.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per-document distributions</a:t>
            </a:r>
          </a:p>
        </p:txBody>
      </p:sp>
      <p:pic>
        <p:nvPicPr>
          <p:cNvPr id="3" name="Picture 2" descr="fig_mimic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601014"/>
          </a:xfrm>
          <a:prstGeom prst="rect">
            <a:avLst/>
          </a:prstGeom>
        </p:spPr>
      </p:pic>
      <p:pic>
        <p:nvPicPr>
          <p:cNvPr id="4" name="Picture 3" descr="fig_mimic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377623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study: what the results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Every grounded condition cut the unsupported fact rate by about 46 percent versus zero-context (E1 0.066, E1b 0.072, E3 0.070 versus E0 0.135; all p &lt; 0.001); the three do not differ from one another; CR did not change</a:t>
            </a:r>
          </a:p>
          <a:p>
            <a:pPr>
              <a:spcAft>
                <a:spcPts val="800"/>
              </a:spcAft>
            </a:pPr>
            <a:r>
              <a:rPr sz="1600"/>
              <a:t>• Omission separates them: excerpt-only RAG covered 37% of the clinician's sentences and verification 34%, against 54% for E0; RAG with the whole course kept 53% (p = 0.449 versus E0)</a:t>
            </a:r>
          </a:p>
          <a:p>
            <a:pPr>
              <a:spcAft>
                <a:spcPts val="800"/>
              </a:spcAft>
            </a:pPr>
            <a:r>
              <a:rPr sz="1600"/>
              <a:t>• Verbatim extraction scores UFR 0.056: the judge's error floor; the grounded LLM conditions sit within a few hundredths of it</a:t>
            </a:r>
          </a:p>
          <a:p>
            <a:pPr>
              <a:spcAft>
                <a:spcPts val="800"/>
              </a:spcAft>
            </a:pPr>
            <a:r>
              <a:rPr sz="1600"/>
              <a:t>• The clinicians' own instructions score UFR 0.289 under the same judge: support by the hospital course measures source-faithfulness, not clinical correctness</a:t>
            </a:r>
          </a:p>
          <a:p>
            <a:pPr>
              <a:spcAft>
                <a:spcPts val="800"/>
              </a:spcAft>
            </a:pPr>
            <a:r>
              <a:rPr sz="1600"/>
              <a:t>• Citations: 72% accurate for excerpt-only RAG but 38% for RAG with the whole course; requiring citations lowered UFR (dropping the requirement raised it by 0.030) and three-sentence chunks raised CR, while other retrieval settings changed only coverage; coverage followed the amount of retrieved text</a:t>
            </a:r>
          </a:p>
          <a:p>
            <a:pPr>
              <a:spcAft>
                <a:spcPts val="800"/>
              </a:spcAft>
            </a:pPr>
            <a:r>
              <a:rPr sz="1600"/>
              <a:t>• Question answering: abstention 23% (full course) versus 33% (excerpts), highest for warning signs, which the course rarely states; retrieval lowers unsupported answers partly by abstaining more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Retrieval ablations: paired difference from the E1 base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1983719"/>
                <a:gridCol w="1983719"/>
                <a:gridCol w="1983719"/>
                <a:gridCol w="20781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UFR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CR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coverage (p)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 citation accuracy (p)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3-sentence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0.485)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+0.020 (p = 0.045)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+0.050 (p = 0.172)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8-sentence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-0.003 (p = 0.834)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-0.005 (p = 0.308)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+0.060 (p = 0.003)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+0.012 (p = 0.492)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top-2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+0.018 (p = 0.427)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+0.017 (p = 0.094)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-0.058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+0.059 (p = 0.060)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top-5 chunks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+0.009 (p = 0.493)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+0.000 (p = 0.838)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+0.072 (p &lt; 0.001)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-0.084 (p = 0.020)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BM25 retrieval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0.596)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+0.007 (p = 0.687)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+0.028 (p = 0.177)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+0.035 (p = 0.393)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citations not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+0.030 (p = 0.017)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-0.007 (p = 0.178)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+0.019 (p = 0.314)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Negative UFR and CR differences and positive coverage and citation differences favour the variant. Base: 5-sentence chunks, top-3, dense retrieval, citations required.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Question-answering pilot (three questions per course)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211"/>
                <a:gridCol w="1677798"/>
                <a:gridCol w="734036"/>
                <a:gridCol w="1258348"/>
                <a:gridCol w="1048623"/>
                <a:gridCol w="1048623"/>
                <a:gridCol w="3355596"/>
                <a:gridCol w="94376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Abstained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Supported by clinician's instructions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Words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follow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medications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QA-E1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warning signs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QA-E0 answers from the full hospital course; QA-E1 from the three chunks retrieved with the question. UFR and CR are computed on answered questions only.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136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Nine chapters: 1 Introduction, 2 Literature Review, 3 Data, 4 Methodology, 5 Pilot Study on MTSamples, 6 Selecting a Valid Judge, 7 Main Study on MIMIC-IV, 8 Discussion, 9 Conclusion;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Since the September 4 draft: judge selection study, MedNLI adaptation, main study on MIMIC-IV with a local model (citations, coverage against the clinician's instructions, citation accuracy, ablations), question-answering pilot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composition to be confirmed with the advisor; advisor review of the draft; final title on the ETD planning form (with or without 'and Question Answering')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 from the result files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22,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the complete draft; committee composition discussed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and committee)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23,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selected judge agrees with experts moderately (kappa 0.33); main-study rates are reported with this error profile, and conclusions rest on paired comparisons</a:t>
            </a:r>
          </a:p>
          <a:p>
            <a:pPr>
              <a:spcAft>
                <a:spcPts val="800"/>
              </a:spcAft>
            </a:pPr>
            <a:r>
              <a:rPr sz="1600"/>
              <a:t>• Generator difference: the pilot used GPT-4o-mini on public notes and the main study a 7-billion-parameter local model on MIMIC-IV, so the two studies are compared qualitatively</a:t>
            </a:r>
          </a:p>
          <a:p>
            <a:pPr>
              <a:spcAft>
                <a:spcPts val="800"/>
              </a:spcAft>
            </a:pPr>
            <a:r>
              <a:rPr sz="1600"/>
              <a:t>• Schedule: advisor approval, Turnitin and two weeks of committee review must all precede the November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Requests to the advisor: review the complete draft, confirm the committee, and decide the final title for the ETD planning 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